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AC7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789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86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26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75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20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64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77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345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779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0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13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34D3A-21F5-4581-941C-C84EE2C2DBCA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801A7-98A4-4FBC-932A-8D2DACE238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65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88869" y="0"/>
            <a:ext cx="9144000" cy="2307197"/>
          </a:xfrm>
        </p:spPr>
        <p:txBody>
          <a:bodyPr>
            <a:noAutofit/>
          </a:bodyPr>
          <a:lstStyle/>
          <a:p>
            <a:pPr>
              <a:lnSpc>
                <a:spcPts val="3550"/>
              </a:lnSpc>
            </a:pPr>
            <a: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  <a:t>Ликино-Дулевский политехнический колледж – филиал </a:t>
            </a:r>
            <a:r>
              <a:rPr lang="ru-RU" sz="2800" b="1" dirty="0" smtClean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  <a:t>ГОУ </a:t>
            </a:r>
            <a: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  <a:t>ВО МО Государственное образовательное учреждение</a:t>
            </a:r>
            <a:b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  <a:t>высшего образования Московской области</a:t>
            </a:r>
            <a:b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144001" y="5012266"/>
            <a:ext cx="3518780" cy="1494974"/>
          </a:xfrm>
        </p:spPr>
        <p:txBody>
          <a:bodyPr>
            <a:normAutofit/>
          </a:bodyPr>
          <a:lstStyle/>
          <a:p>
            <a:pPr algn="l"/>
            <a:r>
              <a:rPr lang="ru-RU" sz="1800" b="1" dirty="0" smtClean="0">
                <a:solidFill>
                  <a:schemeClr val="bg1"/>
                </a:solidFill>
              </a:rPr>
              <a:t>Выполнил: </a:t>
            </a:r>
            <a:r>
              <a:rPr lang="ru-RU" sz="1800" dirty="0" smtClean="0">
                <a:solidFill>
                  <a:schemeClr val="bg1"/>
                </a:solidFill>
              </a:rPr>
              <a:t>Шумов Дмитрий Михайлович</a:t>
            </a:r>
            <a:br>
              <a:rPr lang="ru-RU" sz="1800" dirty="0" smtClean="0">
                <a:solidFill>
                  <a:schemeClr val="bg1"/>
                </a:solidFill>
              </a:rPr>
            </a:br>
            <a:r>
              <a:rPr lang="ru-RU" sz="1800" b="1" dirty="0" smtClean="0">
                <a:solidFill>
                  <a:schemeClr val="bg1"/>
                </a:solidFill>
              </a:rPr>
              <a:t>Группа: </a:t>
            </a:r>
            <a:r>
              <a:rPr lang="ru-RU" sz="1800" dirty="0" smtClean="0">
                <a:solidFill>
                  <a:schemeClr val="bg1"/>
                </a:solidFill>
              </a:rPr>
              <a:t>ИСП.23.1А</a:t>
            </a:r>
            <a:br>
              <a:rPr lang="ru-RU" sz="1800" dirty="0" smtClean="0">
                <a:solidFill>
                  <a:schemeClr val="bg1"/>
                </a:solidFill>
              </a:rPr>
            </a:br>
            <a:r>
              <a:rPr lang="ru-RU" sz="1800" b="1" dirty="0" smtClean="0">
                <a:solidFill>
                  <a:schemeClr val="bg1"/>
                </a:solidFill>
              </a:rPr>
              <a:t>Руководитель: Селиверстова О.М, </a:t>
            </a:r>
            <a:r>
              <a:rPr lang="ru-RU" sz="1800" b="1" dirty="0" err="1" smtClean="0">
                <a:solidFill>
                  <a:schemeClr val="bg1"/>
                </a:solidFill>
              </a:rPr>
              <a:t>Гжегожевский</a:t>
            </a:r>
            <a:r>
              <a:rPr lang="ru-RU" sz="1800" b="1" dirty="0" smtClean="0">
                <a:solidFill>
                  <a:schemeClr val="bg1"/>
                </a:solidFill>
              </a:rPr>
              <a:t> С.В</a:t>
            </a:r>
            <a:endParaRPr lang="ru-RU" sz="1800" b="1" dirty="0">
              <a:solidFill>
                <a:schemeClr val="bg1"/>
              </a:solidFill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339785" y="2314814"/>
            <a:ext cx="7842168" cy="149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smtClean="0">
                <a:solidFill>
                  <a:schemeClr val="bg1"/>
                </a:solidFill>
              </a:rPr>
              <a:t>09.02.07 УП.11 25</a:t>
            </a:r>
          </a:p>
          <a:p>
            <a:r>
              <a:rPr lang="ru-RU" b="1" dirty="0" smtClean="0">
                <a:solidFill>
                  <a:schemeClr val="bg1"/>
                </a:solidFill>
              </a:rPr>
              <a:t> Тема: «Система мониторинга научных направлений студентов»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736869" y="640765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Г. Ликино-</a:t>
            </a:r>
            <a:r>
              <a:rPr lang="ru-RU" b="1" dirty="0" err="1" smtClean="0">
                <a:solidFill>
                  <a:schemeClr val="bg1"/>
                </a:solidFill>
              </a:rPr>
              <a:t>Дулёво</a:t>
            </a:r>
            <a:r>
              <a:rPr lang="ru-RU" b="1" dirty="0" smtClean="0">
                <a:solidFill>
                  <a:schemeClr val="bg1"/>
                </a:solidFill>
              </a:rPr>
              <a:t>, 2026 г.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23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07963"/>
            <a:ext cx="10792691" cy="884237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Оглавление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39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07963"/>
            <a:ext cx="10792691" cy="884237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Постановка задачи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4000" y="1092200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200" b="1" i="0" dirty="0" smtClean="0">
                <a:solidFill>
                  <a:schemeClr val="bg1"/>
                </a:solidFill>
                <a:effectLst/>
                <a:latin typeface="quote-cjk-patch"/>
              </a:rPr>
              <a:t>Проблема:</a:t>
            </a:r>
            <a:r>
              <a:rPr lang="ru-RU" sz="2200" b="0" i="0" dirty="0" smtClean="0">
                <a:solidFill>
                  <a:schemeClr val="bg1"/>
                </a:solidFill>
                <a:effectLst/>
                <a:latin typeface="quote-cjk-patch"/>
              </a:rPr>
              <a:t/>
            </a:r>
            <a:br>
              <a:rPr lang="ru-RU" sz="2200" b="0" i="0" dirty="0" smtClean="0">
                <a:solidFill>
                  <a:schemeClr val="bg1"/>
                </a:solidFill>
                <a:effectLst/>
                <a:latin typeface="quote-cjk-patch"/>
              </a:rPr>
            </a:br>
            <a:r>
              <a:rPr lang="ru-RU" sz="2200" b="0" i="0" dirty="0" smtClean="0">
                <a:solidFill>
                  <a:schemeClr val="bg1"/>
                </a:solidFill>
                <a:effectLst/>
                <a:latin typeface="quote-cjk-patch"/>
              </a:rPr>
              <a:t>Ручной сбор данных о выборе научных направлений → ошибки, потери данных, сложность контроля лимитов, высокая трудоемкость группировки и проверки.</a:t>
            </a:r>
          </a:p>
          <a:p>
            <a:r>
              <a:rPr lang="ru-RU" sz="2200" b="1" i="0" dirty="0" smtClean="0">
                <a:solidFill>
                  <a:schemeClr val="bg1"/>
                </a:solidFill>
                <a:effectLst/>
                <a:latin typeface="quote-cjk-patch"/>
              </a:rPr>
              <a:t>Цель:</a:t>
            </a:r>
            <a:r>
              <a:rPr lang="ru-RU" sz="2200" b="0" i="0" dirty="0" smtClean="0">
                <a:solidFill>
                  <a:schemeClr val="bg1"/>
                </a:solidFill>
                <a:effectLst/>
                <a:latin typeface="quote-cjk-patch"/>
              </a:rPr>
              <a:t/>
            </a:r>
            <a:br>
              <a:rPr lang="ru-RU" sz="2200" b="0" i="0" dirty="0" smtClean="0">
                <a:solidFill>
                  <a:schemeClr val="bg1"/>
                </a:solidFill>
                <a:effectLst/>
                <a:latin typeface="quote-cjk-patch"/>
              </a:rPr>
            </a:br>
            <a:r>
              <a:rPr lang="ru-RU" sz="2200" b="0" i="0" dirty="0" smtClean="0">
                <a:solidFill>
                  <a:schemeClr val="bg1"/>
                </a:solidFill>
                <a:effectLst/>
                <a:latin typeface="quote-cjk-patch"/>
              </a:rPr>
              <a:t>Разработать АИС, автоматизирующую цикл сбора и обработки данных о выборе научных направлений студентами.</a:t>
            </a:r>
          </a:p>
          <a:p>
            <a:r>
              <a:rPr lang="ru-RU" sz="2200" b="1" i="0" dirty="0" smtClean="0">
                <a:solidFill>
                  <a:schemeClr val="bg1"/>
                </a:solidFill>
                <a:effectLst/>
                <a:latin typeface="quote-cjk-patch"/>
              </a:rPr>
              <a:t>Ожидаемый результат:</a:t>
            </a:r>
            <a:r>
              <a:rPr lang="ru-RU" sz="2200" b="0" i="0" dirty="0" smtClean="0">
                <a:solidFill>
                  <a:schemeClr val="bg1"/>
                </a:solidFill>
                <a:effectLst/>
                <a:latin typeface="quote-cjk-patch"/>
              </a:rPr>
              <a:t/>
            </a:r>
            <a:br>
              <a:rPr lang="ru-RU" sz="2200" b="0" i="0" dirty="0" smtClean="0">
                <a:solidFill>
                  <a:schemeClr val="bg1"/>
                </a:solidFill>
                <a:effectLst/>
                <a:latin typeface="quote-cjk-patch"/>
              </a:rPr>
            </a:br>
            <a:r>
              <a:rPr lang="ru-RU" sz="2200" b="0" i="0" dirty="0" smtClean="0">
                <a:solidFill>
                  <a:schemeClr val="bg1"/>
                </a:solidFill>
                <a:effectLst/>
                <a:latin typeface="quote-cjk-patch"/>
              </a:rPr>
              <a:t>Полностью автоматизированный цикл: от выдачи бланка до итогового отчета проректору без ручной группировки и с минимизацией ошибок.</a:t>
            </a:r>
            <a:endParaRPr lang="ru-RU" sz="2200" b="0" i="0" dirty="0">
              <a:solidFill>
                <a:schemeClr val="bg1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03226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10792691" cy="876299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Функциональный анализ №1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/>
          <p:nvPr/>
        </p:nvPicPr>
        <p:blipFill rotWithShape="1">
          <a:blip r:embed="rId2"/>
          <a:srcRect t="2244" r="3441" b="3804"/>
          <a:stretch/>
        </p:blipFill>
        <p:spPr>
          <a:xfrm>
            <a:off x="51232" y="876300"/>
            <a:ext cx="5345113" cy="45466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5444629"/>
            <a:ext cx="5940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Рис. №1 «ДВИ»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pic>
        <p:nvPicPr>
          <p:cNvPr id="6" name="Рисунок 5"/>
          <p:cNvPicPr/>
          <p:nvPr/>
        </p:nvPicPr>
        <p:blipFill rotWithShape="1">
          <a:blip r:embed="rId3"/>
          <a:srcRect l="16201" t="-510" r="18689" b="510"/>
          <a:stretch/>
        </p:blipFill>
        <p:spPr>
          <a:xfrm>
            <a:off x="10688619" y="835561"/>
            <a:ext cx="1371600" cy="49784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251405" y="5813961"/>
            <a:ext cx="19405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Рис. №3 «Древо</a:t>
            </a:r>
            <a:br>
              <a:rPr lang="ru-RU" dirty="0" smtClean="0">
                <a:solidFill>
                  <a:schemeClr val="bg1"/>
                </a:solidFill>
                <a:latin typeface="quote-cjk-patch"/>
              </a:rPr>
            </a:br>
            <a:r>
              <a:rPr lang="ru-RU" dirty="0" smtClean="0">
                <a:solidFill>
                  <a:schemeClr val="bg1"/>
                </a:solidFill>
                <a:latin typeface="quote-cjk-patch"/>
              </a:rPr>
              <a:t>Функций»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5477540" y="2145414"/>
            <a:ext cx="5129885" cy="2007568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994482" y="417471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Рис. №3 «Органиограмма»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9161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10792691" cy="876299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Функциональный анализ №2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19703" y="788258"/>
            <a:ext cx="97532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quote-cjk-patch"/>
              </a:rPr>
              <a:t>Таблица входных данных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19703" y="4296291"/>
            <a:ext cx="97532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quote-cjk-patch"/>
              </a:rPr>
              <a:t>Таблица выходных данных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304208"/>
              </p:ext>
            </p:extLst>
          </p:nvPr>
        </p:nvGraphicFramePr>
        <p:xfrm>
          <a:off x="519703" y="4762247"/>
          <a:ext cx="9753284" cy="19560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483">
                  <a:extLst>
                    <a:ext uri="{9D8B030D-6E8A-4147-A177-3AD203B41FA5}">
                      <a16:colId xmlns:a16="http://schemas.microsoft.com/office/drawing/2014/main" val="387043353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690385954"/>
                    </a:ext>
                  </a:extLst>
                </a:gridCol>
                <a:gridCol w="3671828">
                  <a:extLst>
                    <a:ext uri="{9D8B030D-6E8A-4147-A177-3AD203B41FA5}">
                      <a16:colId xmlns:a16="http://schemas.microsoft.com/office/drawing/2014/main" val="1792416381"/>
                    </a:ext>
                  </a:extLst>
                </a:gridCol>
                <a:gridCol w="1773941">
                  <a:extLst>
                    <a:ext uri="{9D8B030D-6E8A-4147-A177-3AD203B41FA5}">
                      <a16:colId xmlns:a16="http://schemas.microsoft.com/office/drawing/2014/main" val="3854285323"/>
                    </a:ext>
                  </a:extLst>
                </a:gridCol>
                <a:gridCol w="1678932">
                  <a:extLst>
                    <a:ext uri="{9D8B030D-6E8A-4147-A177-3AD203B41FA5}">
                      <a16:colId xmlns:a16="http://schemas.microsoft.com/office/drawing/2014/main" val="898783571"/>
                    </a:ext>
                  </a:extLst>
                </a:gridCol>
              </a:tblGrid>
              <a:tr h="2794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№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effectLst/>
                        </a:rPr>
                        <a:t>Функция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Данные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Документ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Описание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39921690"/>
                  </a:ext>
                </a:extLst>
              </a:tr>
              <a:tr h="838308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</a:rPr>
                        <a:t>Формирование листа записей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Выбранное направление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Бланк направлений (заполненный)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Бланк направлений заполненный студентом 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66021170"/>
                  </a:ext>
                </a:extLst>
              </a:tr>
              <a:tr h="83830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Данные студента (ФИО, группа)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Бланк направлений (заполненный)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</a:rPr>
                        <a:t>Бланк направлений заполненный студентом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7055986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930724"/>
              </p:ext>
            </p:extLst>
          </p:nvPr>
        </p:nvGraphicFramePr>
        <p:xfrm>
          <a:off x="519703" y="1157590"/>
          <a:ext cx="9753285" cy="31322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9010">
                  <a:extLst>
                    <a:ext uri="{9D8B030D-6E8A-4147-A177-3AD203B41FA5}">
                      <a16:colId xmlns:a16="http://schemas.microsoft.com/office/drawing/2014/main" val="3024362780"/>
                    </a:ext>
                  </a:extLst>
                </a:gridCol>
                <a:gridCol w="1728516">
                  <a:extLst>
                    <a:ext uri="{9D8B030D-6E8A-4147-A177-3AD203B41FA5}">
                      <a16:colId xmlns:a16="http://schemas.microsoft.com/office/drawing/2014/main" val="704448928"/>
                    </a:ext>
                  </a:extLst>
                </a:gridCol>
                <a:gridCol w="2315249">
                  <a:extLst>
                    <a:ext uri="{9D8B030D-6E8A-4147-A177-3AD203B41FA5}">
                      <a16:colId xmlns:a16="http://schemas.microsoft.com/office/drawing/2014/main" val="2485055205"/>
                    </a:ext>
                  </a:extLst>
                </a:gridCol>
                <a:gridCol w="1789976">
                  <a:extLst>
                    <a:ext uri="{9D8B030D-6E8A-4147-A177-3AD203B41FA5}">
                      <a16:colId xmlns:a16="http://schemas.microsoft.com/office/drawing/2014/main" val="3641396293"/>
                    </a:ext>
                  </a:extLst>
                </a:gridCol>
                <a:gridCol w="3470534">
                  <a:extLst>
                    <a:ext uri="{9D8B030D-6E8A-4147-A177-3AD203B41FA5}">
                      <a16:colId xmlns:a16="http://schemas.microsoft.com/office/drawing/2014/main" val="801000591"/>
                    </a:ext>
                  </a:extLst>
                </a:gridCol>
              </a:tblGrid>
              <a:tr h="2192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№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Функция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effectLst/>
                        </a:rPr>
                        <a:t>Данные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Документ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Описание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1290511"/>
                  </a:ext>
                </a:extLst>
              </a:tr>
              <a:tr h="12784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1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Предоставление бланков направлений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Список направлений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 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Бланк научных направлений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 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Документ, содержащий список актуальных научных направлений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 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921844"/>
                  </a:ext>
                </a:extLst>
              </a:tr>
              <a:tr h="92148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2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Информирование об ограничениях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Максимальное количество студентов на направление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Ограничения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Для определения максимального количества возможных записей на 1 направление</a:t>
                      </a:r>
                      <a:endParaRPr lang="ru-RU" sz="14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 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9372860"/>
                  </a:ext>
                </a:extLst>
              </a:tr>
              <a:tr h="6269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Минимальное количество студентов на направление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Ограничения</a:t>
                      </a:r>
                      <a:endParaRPr lang="ru-RU" sz="14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 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</a:rPr>
                        <a:t>Для определения минимального количества записей на 1 направление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860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396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7629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UML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125787" y="6407653"/>
            <a:ext cx="5940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Рис. №4 «Диаграмма бизнес процесса»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3081019" y="745358"/>
            <a:ext cx="6029960" cy="566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7629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ER-</a:t>
            </a:r>
            <a:r>
              <a:rPr lang="ru-RU" dirty="0" smtClean="0">
                <a:solidFill>
                  <a:schemeClr val="bg1"/>
                </a:solidFill>
              </a:rPr>
              <a:t>Модель БД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074988" y="5562083"/>
            <a:ext cx="65643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Рис. №5 «</a:t>
            </a:r>
            <a:r>
              <a:rPr lang="en-US" dirty="0" smtClean="0">
                <a:solidFill>
                  <a:schemeClr val="bg1"/>
                </a:solidFill>
                <a:latin typeface="quote-cjk-patch"/>
              </a:rPr>
              <a:t>ER-</a:t>
            </a:r>
            <a:r>
              <a:rPr lang="ru-RU" dirty="0" smtClean="0">
                <a:solidFill>
                  <a:schemeClr val="bg1"/>
                </a:solidFill>
                <a:latin typeface="quote-cjk-patch"/>
              </a:rPr>
              <a:t>модель БД»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074987" y="1139507"/>
            <a:ext cx="6564313" cy="434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899"/>
            <a:ext cx="12192000" cy="876299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Примеры запросов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-1205727" y="3953581"/>
            <a:ext cx="6564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Вывод количества студентов</a:t>
            </a:r>
            <a:br>
              <a:rPr lang="ru-RU" dirty="0" smtClean="0">
                <a:solidFill>
                  <a:schemeClr val="bg1"/>
                </a:solidFill>
                <a:latin typeface="quote-cjk-patch"/>
              </a:rPr>
            </a:br>
            <a:r>
              <a:rPr lang="ru-RU" dirty="0" smtClean="0">
                <a:solidFill>
                  <a:schemeClr val="bg1"/>
                </a:solidFill>
                <a:latin typeface="quote-cjk-patch"/>
              </a:rPr>
              <a:t> на каждом курсе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225034"/>
            <a:ext cx="20764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  <a:latin typeface="quote-cjk-patch"/>
              </a:rPr>
              <a:t>Группировка</a:t>
            </a:r>
            <a:endParaRPr lang="ru-RU" b="1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-565727" y="1594366"/>
            <a:ext cx="4076700" cy="2463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ru-RU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monitoringsystem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i="1" kern="100" dirty="0" smtClean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endParaRPr lang="ru-RU" sz="1500" i="1" kern="100" dirty="0" smtClean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c.course_number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AS '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Курс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',</a:t>
            </a:r>
            <a:endParaRPr lang="ru-RU" sz="1500" i="1" kern="100" dirty="0" smtClean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COUNT(s.id) AS 'Количество студентов'</a:t>
            </a:r>
            <a:endParaRPr lang="ru-RU" sz="1500" i="1" kern="100" dirty="0" smtClean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 Student s</a:t>
            </a:r>
            <a:endParaRPr lang="ru-RU" sz="1500" i="1" kern="100" dirty="0" smtClean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JOIN Course c ON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s.course_id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c.id</a:t>
            </a:r>
            <a:endParaRPr lang="ru-RU" sz="1500" i="1" kern="100" dirty="0" smtClean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c.course_number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i="1" kern="100" dirty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1038214" y="4577317"/>
            <a:ext cx="2000250" cy="211455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2630312" y="4208244"/>
            <a:ext cx="6564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Вывод всех студентов с </a:t>
            </a:r>
            <a:br>
              <a:rPr lang="ru-RU" dirty="0" smtClean="0">
                <a:solidFill>
                  <a:schemeClr val="bg1"/>
                </a:solidFill>
                <a:latin typeface="quote-cjk-patch"/>
              </a:rPr>
            </a:br>
            <a:r>
              <a:rPr lang="ru-RU" dirty="0" smtClean="0">
                <a:solidFill>
                  <a:schemeClr val="bg1"/>
                </a:solidFill>
                <a:latin typeface="quote-cjk-patch"/>
              </a:rPr>
              <a:t>прикладным направлением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874118" y="1593110"/>
            <a:ext cx="4076700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use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monitoringsystem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;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SELECT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full_name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AS '</a:t>
            </a:r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Студент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'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FROM Student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WHERE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research_direction_id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IN (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SELECT id 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FROM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ResearchDirection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WHERE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direction_type_id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= (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    SELECT id FROM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DirectionType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WHERE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type_name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= '</a:t>
            </a:r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Прикладное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'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</a:t>
            </a:r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0" name="Прямоугольник 29"/>
          <p:cNvSpPr/>
          <p:nvPr/>
        </p:nvSpPr>
        <p:spPr>
          <a:xfrm>
            <a:off x="4019571" y="1129608"/>
            <a:ext cx="20764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  <a:latin typeface="quote-cjk-patch"/>
              </a:rPr>
              <a:t>Подзапрос</a:t>
            </a:r>
            <a:endParaRPr lang="ru-RU" b="1" dirty="0">
              <a:solidFill>
                <a:schemeClr val="bg1"/>
              </a:solidFill>
              <a:latin typeface="quote-cjk-patch"/>
            </a:endParaRPr>
          </a:p>
        </p:txBody>
      </p:sp>
      <p:pic>
        <p:nvPicPr>
          <p:cNvPr id="31" name="Рисунок 30"/>
          <p:cNvPicPr/>
          <p:nvPr/>
        </p:nvPicPr>
        <p:blipFill>
          <a:blip r:embed="rId3"/>
          <a:stretch>
            <a:fillRect/>
          </a:stretch>
        </p:blipFill>
        <p:spPr>
          <a:xfrm>
            <a:off x="4957243" y="5099458"/>
            <a:ext cx="2114550" cy="838200"/>
          </a:xfrm>
          <a:prstGeom prst="rect">
            <a:avLst/>
          </a:prstGeom>
        </p:spPr>
      </p:pic>
      <p:sp>
        <p:nvSpPr>
          <p:cNvPr id="36" name="Прямоугольник 35"/>
          <p:cNvSpPr/>
          <p:nvPr/>
        </p:nvSpPr>
        <p:spPr>
          <a:xfrm>
            <a:off x="6466351" y="3081146"/>
            <a:ext cx="6564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Вывод всех профессоров</a:t>
            </a:r>
            <a:br>
              <a:rPr lang="ru-RU" dirty="0" smtClean="0">
                <a:solidFill>
                  <a:schemeClr val="bg1"/>
                </a:solidFill>
                <a:latin typeface="quote-cjk-patch"/>
              </a:rPr>
            </a:br>
            <a:r>
              <a:rPr lang="ru-RU" dirty="0" smtClean="0">
                <a:solidFill>
                  <a:schemeClr val="bg1"/>
                </a:solidFill>
                <a:latin typeface="quote-cjk-patch"/>
              </a:rPr>
              <a:t> и их научных направлений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7950818" y="1129608"/>
            <a:ext cx="27420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  <a:latin typeface="quote-cjk-patch"/>
              </a:rPr>
              <a:t>Соединение таблиц</a:t>
            </a:r>
            <a:endParaRPr lang="ru-RU" b="1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8108995" y="1547786"/>
            <a:ext cx="4260170" cy="1374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p.full_name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role_in_direction</a:t>
            </a:r>
            <a:endParaRPr lang="ru-RU" sz="1500" i="1" kern="100" dirty="0" smtClean="0">
              <a:solidFill>
                <a:srgbClr val="00FF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 professor p</a:t>
            </a:r>
            <a:endParaRPr lang="ru-RU" sz="1500" i="1" kern="100" dirty="0" smtClean="0">
              <a:solidFill>
                <a:srgbClr val="00FF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LEFT JOIN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professor_direction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</a:t>
            </a:r>
            <a:endParaRPr lang="ru-RU" sz="1500" i="1" kern="100" dirty="0" smtClean="0">
              <a:solidFill>
                <a:srgbClr val="00FF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 p.id =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pr.professor_id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i="1" kern="100" dirty="0">
              <a:solidFill>
                <a:srgbClr val="00FF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3" name="Рисунок 42"/>
          <p:cNvPicPr/>
          <p:nvPr/>
        </p:nvPicPr>
        <p:blipFill>
          <a:blip r:embed="rId4"/>
          <a:stretch>
            <a:fillRect/>
          </a:stretch>
        </p:blipFill>
        <p:spPr>
          <a:xfrm>
            <a:off x="8107472" y="3885973"/>
            <a:ext cx="35242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0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899"/>
            <a:ext cx="12192000" cy="876299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Хранимые процедуры, функции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-468312" y="4884825"/>
            <a:ext cx="6564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Функция выводит общее количество</a:t>
            </a:r>
            <a:br>
              <a:rPr lang="ru-RU" dirty="0" smtClean="0">
                <a:solidFill>
                  <a:schemeClr val="bg1"/>
                </a:solidFill>
                <a:latin typeface="quote-cjk-patch"/>
              </a:rPr>
            </a:br>
            <a:r>
              <a:rPr lang="ru-RU" dirty="0" smtClean="0">
                <a:solidFill>
                  <a:schemeClr val="bg1"/>
                </a:solidFill>
                <a:latin typeface="quote-cjk-patch"/>
              </a:rPr>
              <a:t> научных направлений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75629" y="896347"/>
            <a:ext cx="20764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  <a:latin typeface="quote-cjk-patch"/>
              </a:rPr>
              <a:t>Функция</a:t>
            </a:r>
            <a:endParaRPr lang="ru-RU" b="1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6356935" y="4889988"/>
            <a:ext cx="65643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Процедура смены статуса студента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8268059" y="869780"/>
            <a:ext cx="27420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  <a:latin typeface="quote-cjk-patch"/>
              </a:rPr>
              <a:t>Процедура</a:t>
            </a:r>
            <a:endParaRPr lang="ru-RU" b="1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75861" y="1261492"/>
            <a:ext cx="5379843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DELIMITER //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CREATE FUNCTION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GetTotalResearchDirections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() 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RETURNS INT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READS SQL DATA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DETERMINISTIC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BEGIN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DECLARE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total_count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INT;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SELECT COUNT(*) INTO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total_count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FROM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ResearchDirection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RETURN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total_count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END//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DELIMITER ;</a:t>
            </a:r>
          </a:p>
          <a:p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SELECT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GetTotalResearchDirections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() as '</a:t>
            </a:r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Всего направлений';</a:t>
            </a:r>
          </a:p>
        </p:txBody>
      </p:sp>
      <p:pic>
        <p:nvPicPr>
          <p:cNvPr id="17" name="Рисунок 16"/>
          <p:cNvPicPr/>
          <p:nvPr/>
        </p:nvPicPr>
        <p:blipFill>
          <a:blip r:embed="rId2"/>
          <a:stretch>
            <a:fillRect/>
          </a:stretch>
        </p:blipFill>
        <p:spPr>
          <a:xfrm>
            <a:off x="2104230" y="5762398"/>
            <a:ext cx="1419225" cy="6096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815899" y="1261492"/>
            <a:ext cx="6096000" cy="30931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DELIMITER //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CREATE PROCEDURE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ChangeStudentStatus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IN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student_id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INT,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IN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new_status_id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INT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BEGIN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UPDATE Student 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SET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status_id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=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new_status_id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WHERE id =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student_id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END //</a:t>
            </a: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DELIMITER ;</a:t>
            </a:r>
          </a:p>
          <a:p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CALL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ChangeStudentStatus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(1, 5);</a:t>
            </a:r>
          </a:p>
        </p:txBody>
      </p:sp>
      <p:pic>
        <p:nvPicPr>
          <p:cNvPr id="19" name="Рисунок 18"/>
          <p:cNvPicPr/>
          <p:nvPr/>
        </p:nvPicPr>
        <p:blipFill>
          <a:blip r:embed="rId3"/>
          <a:stretch>
            <a:fillRect/>
          </a:stretch>
        </p:blipFill>
        <p:spPr>
          <a:xfrm>
            <a:off x="7810291" y="5829073"/>
            <a:ext cx="3657600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Триггеры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61" y="789630"/>
            <a:ext cx="67740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Триггеры - автоматически выполняемые процедуры, активируемые при наступлении определенных событий (INSERT, UPDATE, DELETE) с таблицами.</a:t>
            </a:r>
            <a:endParaRPr lang="ru-RU" b="1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79055" y="512767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Триггер BEFORE INSERT для проверки </a:t>
            </a:r>
            <a:r>
              <a:rPr lang="ru-RU" dirty="0" err="1" smtClean="0">
                <a:solidFill>
                  <a:schemeClr val="bg1"/>
                </a:solidFill>
              </a:rPr>
              <a:t>email</a:t>
            </a:r>
            <a:r>
              <a:rPr lang="ru-RU" dirty="0" smtClean="0">
                <a:solidFill>
                  <a:schemeClr val="bg1"/>
                </a:solidFill>
              </a:rPr>
              <a:t> преподавателя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Проверяет </a:t>
            </a:r>
            <a:r>
              <a:rPr lang="ru-RU" dirty="0" err="1" smtClean="0">
                <a:solidFill>
                  <a:schemeClr val="bg1"/>
                </a:solidFill>
              </a:rPr>
              <a:t>email</a:t>
            </a:r>
            <a:r>
              <a:rPr lang="ru-RU" dirty="0" smtClean="0">
                <a:solidFill>
                  <a:schemeClr val="bg1"/>
                </a:solidFill>
              </a:rPr>
              <a:t> преподавателя при добавлении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8" name="Рисунок 27"/>
          <p:cNvPicPr/>
          <p:nvPr/>
        </p:nvPicPr>
        <p:blipFill>
          <a:blip r:embed="rId2"/>
          <a:stretch>
            <a:fillRect/>
          </a:stretch>
        </p:blipFill>
        <p:spPr>
          <a:xfrm>
            <a:off x="142179" y="5819364"/>
            <a:ext cx="6169752" cy="269839"/>
          </a:xfrm>
          <a:prstGeom prst="rect">
            <a:avLst/>
          </a:prstGeom>
        </p:spPr>
      </p:pic>
      <p:sp>
        <p:nvSpPr>
          <p:cNvPr id="20" name="Прямоугольник 19"/>
          <p:cNvSpPr/>
          <p:nvPr/>
        </p:nvSpPr>
        <p:spPr>
          <a:xfrm>
            <a:off x="142179" y="1758322"/>
            <a:ext cx="6096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CREATE TRIGGER 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before_professor_insert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BEFORE INSERT ON Professor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FOR EACH ROW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BEGIN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IF 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NEW.email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IS NOT NULL AND 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NEW.email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NOT LIKE '%@%' THEN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    SIGNAL SQLSTATE '45000' 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    SET MESSAGE_TEXT = 'Email </a:t>
            </a:r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преподавателя должен содержать @';</a:t>
            </a:r>
          </a:p>
          <a:p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END IF;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END//</a:t>
            </a:r>
          </a:p>
          <a:p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INSERT INTO Professor (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full_name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, email) 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VALUES ('</a:t>
            </a:r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Тестовый Преподаватель', '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invalid-email');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80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Работа с пользователями и исключениями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61" y="789630"/>
            <a:ext cx="67740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Обработка ошибок - механизм перехвата и обработки исключительных ситуаций в хранимых процедурах и функциях для обеспечения надежности приложений.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179055" y="512767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Обработка ошибки при удалении несуществующей БД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2179" y="1758322"/>
            <a:ext cx="6096000" cy="30931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CREATE PROCEDURE 5_Drop_BD_MonitoringSystem()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BEGIN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DECLARE EXIT HANDLER FOR 1008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BEGIN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    SELECT '</a:t>
            </a:r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База данных 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MonitoringSystem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</a:t>
            </a:r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не существует' 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AS '</a:t>
            </a:r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Ошибка';</a:t>
            </a:r>
          </a:p>
          <a:p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END;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DROP DATABASE 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MonitoringSystem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END//</a:t>
            </a:r>
          </a:p>
          <a:p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DELIMITER ;</a:t>
            </a: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CALL 5_Drop_BD('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NonExistentDatabase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');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179055" y="5773198"/>
            <a:ext cx="5680569" cy="2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9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Проектирование и разработка </a:t>
            </a:r>
            <a:r>
              <a:rPr lang="ru-RU" sz="4000" dirty="0" err="1" smtClean="0">
                <a:solidFill>
                  <a:schemeClr val="bg1"/>
                </a:solidFill>
              </a:rPr>
              <a:t>графовой</a:t>
            </a:r>
            <a:r>
              <a:rPr lang="ru-RU" sz="4000" dirty="0" smtClean="0">
                <a:solidFill>
                  <a:schemeClr val="bg1"/>
                </a:solidFill>
              </a:rPr>
              <a:t> БД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61" y="789630"/>
            <a:ext cx="6774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Neo4j — самая популярная </a:t>
            </a:r>
            <a:r>
              <a:rPr lang="ru-RU" dirty="0" err="1">
                <a:solidFill>
                  <a:schemeClr val="bg1"/>
                </a:solidFill>
              </a:rPr>
              <a:t>графовая</a:t>
            </a:r>
            <a:r>
              <a:rPr lang="ru-RU" dirty="0">
                <a:solidFill>
                  <a:schemeClr val="bg1"/>
                </a:solidFill>
              </a:rPr>
              <a:t> база данных с открытым исходным кодом, разработанная компанией Neo4j, </a:t>
            </a:r>
            <a:r>
              <a:rPr lang="ru-RU" dirty="0" err="1">
                <a:solidFill>
                  <a:schemeClr val="bg1"/>
                </a:solidFill>
              </a:rPr>
              <a:t>Inc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943" y="1748529"/>
            <a:ext cx="6510592" cy="3909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370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Запросы к данным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474670"/>
            <a:ext cx="4838007" cy="1618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MATCH 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p:Professor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)-[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r:LEADS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]-&gt;(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rd:ResearchDirection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500" i="1" kern="100" dirty="0">
              <a:solidFill>
                <a:srgbClr val="00FFFF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MATCH 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)-[:HAS_TYPE]-&gt;(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dt:DirectionType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500" i="1" kern="100" dirty="0">
              <a:solidFill>
                <a:srgbClr val="00FFFF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rd.direction_name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Направление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p.full_name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r.role_in_direction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Роль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dt.type_name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Тип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направления</a:t>
            </a:r>
            <a:endParaRPr lang="ru-RU" sz="1500" i="1" kern="100" dirty="0">
              <a:solidFill>
                <a:srgbClr val="00FFFF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rd.direction_name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500" i="1" kern="100" dirty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92480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solidFill>
                  <a:schemeClr val="bg1"/>
                </a:solidFill>
              </a:rPr>
              <a:t>Научные направления с руководителями и типами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137469" y="3273597"/>
            <a:ext cx="5620536" cy="233049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945110" y="1299081"/>
            <a:ext cx="6096000" cy="281205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MATCH 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s:Student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)-[:HAS_STATUS]-&gt;(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st:StudentStatus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status_name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 "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Активный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"})</a:t>
            </a:r>
            <a:endParaRPr lang="ru-RU" sz="1500" i="1" kern="100" dirty="0">
              <a:solidFill>
                <a:srgbClr val="00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MATCH (s)-[:STUDIES_IN]-&gt;(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rd:ResearchDirection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1500" i="1" kern="100" dirty="0">
              <a:solidFill>
                <a:srgbClr val="00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MATCH 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rd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)-[:BELONGS_TO_DEPARTMENT]-&gt;(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d:Department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1500" i="1" kern="100" dirty="0">
              <a:solidFill>
                <a:srgbClr val="00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MATCH (d)-[:BELONGS_TO]-&gt;(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f:Faculty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faculty_name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 "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Факультет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информационных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технологий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"})</a:t>
            </a:r>
            <a:endParaRPr lang="ru-RU" sz="1500" i="1" kern="100" dirty="0">
              <a:solidFill>
                <a:srgbClr val="00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s.full_name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as Студент,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rd.direction_name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Направление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d.department_name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Кафедра</a:t>
            </a:r>
            <a:endParaRPr lang="ru-RU" sz="1500" i="1" kern="100" dirty="0">
              <a:solidFill>
                <a:srgbClr val="00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s.full_name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500" i="1" kern="100" dirty="0">
                <a:solidFill>
                  <a:srgbClr val="00FF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sz="1500" i="1" dirty="0">
              <a:solidFill>
                <a:srgbClr val="00FFFF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132215" y="92480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solidFill>
                  <a:schemeClr val="bg1"/>
                </a:solidFill>
              </a:rPr>
              <a:t>Активные студенты факультета инф. Технологий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4242535"/>
            <a:ext cx="5940425" cy="119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3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Создание визуализаций (</a:t>
            </a:r>
            <a:r>
              <a:rPr lang="en-US" sz="4000" dirty="0" err="1" smtClean="0">
                <a:solidFill>
                  <a:schemeClr val="bg1"/>
                </a:solidFill>
              </a:rPr>
              <a:t>Yandex</a:t>
            </a:r>
            <a:r>
              <a:rPr lang="en-US" sz="4000" dirty="0" smtClean="0">
                <a:solidFill>
                  <a:schemeClr val="bg1"/>
                </a:solidFill>
              </a:rPr>
              <a:t> </a:t>
            </a:r>
            <a:r>
              <a:rPr lang="en-US" sz="4000" dirty="0" err="1" smtClean="0">
                <a:solidFill>
                  <a:schemeClr val="bg1"/>
                </a:solidFill>
              </a:rPr>
              <a:t>datalens</a:t>
            </a:r>
            <a:r>
              <a:rPr lang="en-US" sz="4000" dirty="0" smtClean="0">
                <a:solidFill>
                  <a:schemeClr val="bg1"/>
                </a:solidFill>
              </a:rPr>
              <a:t>)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2"/>
          <a:stretch>
            <a:fillRect/>
          </a:stretch>
        </p:blipFill>
        <p:spPr>
          <a:xfrm>
            <a:off x="66040" y="818609"/>
            <a:ext cx="6029960" cy="3754120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168604" y="818609"/>
            <a:ext cx="5940425" cy="3747135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>
          <a:blip r:embed="rId4"/>
          <a:stretch>
            <a:fillRect/>
          </a:stretch>
        </p:blipFill>
        <p:spPr>
          <a:xfrm>
            <a:off x="3639330" y="3962201"/>
            <a:ext cx="5305493" cy="276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4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Создание </a:t>
            </a:r>
            <a:r>
              <a:rPr lang="ru-RU" sz="4000" dirty="0" err="1" smtClean="0">
                <a:solidFill>
                  <a:schemeClr val="bg1"/>
                </a:solidFill>
              </a:rPr>
              <a:t>дашборда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2661631" y="1312083"/>
            <a:ext cx="6868738" cy="449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16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Работа с параметрами и расчетами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1025" name="Рисунок 185433675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22" y="2080119"/>
            <a:ext cx="2620069" cy="1201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87517" y="822274"/>
            <a:ext cx="6096000" cy="12578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kern="1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Было создано 2 вычисляемых поля: </a:t>
            </a:r>
            <a:r>
              <a:rPr lang="en-US" b="1" kern="100" dirty="0" err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CountStudents</a:t>
            </a:r>
            <a:r>
              <a:rPr lang="ru-RU" b="1" kern="1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(подсчет кол-ва студентов в группе) и </a:t>
            </a:r>
            <a:r>
              <a:rPr lang="en-US" b="1" kern="1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Status</a:t>
            </a:r>
            <a:r>
              <a:rPr lang="ru-RU" b="1" kern="1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(назначает статус группы в зависимости от количества студентов в ней)</a:t>
            </a:r>
            <a:br>
              <a:rPr lang="ru-RU" b="1" kern="1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b="1" kern="100" dirty="0">
              <a:solidFill>
                <a:schemeClr val="bg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90122" y="3424383"/>
            <a:ext cx="6096000" cy="173701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b="1" kern="100" dirty="0" err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StudentCount</a:t>
            </a:r>
            <a:r>
              <a:rPr lang="en-US" sz="2200" b="1" kern="1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200" b="1" kern="100" dirty="0">
              <a:solidFill>
                <a:schemeClr val="bg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350"/>
              </a:lnSpc>
              <a:spcAft>
                <a:spcPts val="0"/>
              </a:spcAft>
            </a:pPr>
            <a:r>
              <a:rPr lang="en-US" sz="1500" i="1" kern="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COUNT([</a:t>
            </a:r>
            <a:r>
              <a:rPr lang="en-US" sz="1500" i="1" kern="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1500" i="1" kern="0" dirty="0" smtClean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>
              <a:lnSpc>
                <a:spcPts val="1350"/>
              </a:lnSpc>
              <a:spcAft>
                <a:spcPts val="0"/>
              </a:spcAft>
            </a:pPr>
            <a:endParaRPr lang="en-US" sz="1500" i="1" kern="0" dirty="0">
              <a:solidFill>
                <a:srgbClr val="00FFFF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350"/>
              </a:lnSpc>
              <a:spcAft>
                <a:spcPts val="0"/>
              </a:spcAft>
            </a:pPr>
            <a:r>
              <a:rPr lang="en-US" sz="2200" b="1" kern="100" dirty="0" smtClean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Status</a:t>
            </a:r>
            <a:r>
              <a:rPr lang="ru-RU" sz="2200" b="1" kern="100" dirty="0" smtClean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ts val="1350"/>
              </a:lnSpc>
              <a:spcAft>
                <a:spcPts val="0"/>
              </a:spcAft>
            </a:pPr>
            <a:endParaRPr lang="ru-RU" sz="1500" i="1" kern="100" dirty="0">
              <a:solidFill>
                <a:srgbClr val="00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CountStudents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&lt; 7, "</a:t>
            </a:r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Недобор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IF([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CountStudents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&lt;= 14, "</a:t>
            </a:r>
            <a:r>
              <a:rPr lang="ru-RU" sz="1500" i="1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Усредненно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Перебор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ru-RU" sz="1500" i="1" dirty="0">
              <a:solidFill>
                <a:srgbClr val="00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2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chemeClr val="bg1"/>
                </a:solidFill>
              </a:rPr>
              <a:t>Вывод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88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759</Words>
  <Application>Microsoft Office PowerPoint</Application>
  <PresentationFormat>Широкоэкранный</PresentationFormat>
  <Paragraphs>173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Fraunces Extra Bold</vt:lpstr>
      <vt:lpstr>Arial</vt:lpstr>
      <vt:lpstr>Calibri</vt:lpstr>
      <vt:lpstr>Calibri Light</vt:lpstr>
      <vt:lpstr>Consolas</vt:lpstr>
      <vt:lpstr>quote-cjk-patch</vt:lpstr>
      <vt:lpstr>Times New Roman</vt:lpstr>
      <vt:lpstr>Тема Office</vt:lpstr>
      <vt:lpstr>Ликино-Дулевский политехнический колледж – филиал ГОУ  ВО МО Государственное образовательное учреждение высшего образования Московской области  </vt:lpstr>
      <vt:lpstr>Оглавление</vt:lpstr>
      <vt:lpstr>Постановка задачи</vt:lpstr>
      <vt:lpstr>Функциональный анализ №1</vt:lpstr>
      <vt:lpstr>Функциональный анализ №2</vt:lpstr>
      <vt:lpstr>UML</vt:lpstr>
      <vt:lpstr>ER-Модель БД</vt:lpstr>
      <vt:lpstr>Примеры запросов</vt:lpstr>
      <vt:lpstr>Хранимые процедуры, функции</vt:lpstr>
      <vt:lpstr>Триггеры</vt:lpstr>
      <vt:lpstr>Работа с пользователями и исключениями</vt:lpstr>
      <vt:lpstr>Проектирование и разработка графовой БД</vt:lpstr>
      <vt:lpstr>Запросы к данным</vt:lpstr>
      <vt:lpstr>Создание визуализаций (Yandex datalens)</vt:lpstr>
      <vt:lpstr>Создание дашборда</vt:lpstr>
      <vt:lpstr>Работа с параметрами и расчетами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Студент</dc:creator>
  <cp:lastModifiedBy>Студент</cp:lastModifiedBy>
  <cp:revision>33</cp:revision>
  <dcterms:created xsi:type="dcterms:W3CDTF">2026-04-21T09:57:15Z</dcterms:created>
  <dcterms:modified xsi:type="dcterms:W3CDTF">2026-04-21T12:12:47Z</dcterms:modified>
</cp:coreProperties>
</file>