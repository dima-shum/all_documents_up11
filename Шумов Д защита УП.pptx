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7" r:id="rId11"/>
    <p:sldId id="264" r:id="rId12"/>
    <p:sldId id="265" r:id="rId13"/>
    <p:sldId id="266" r:id="rId14"/>
    <p:sldId id="268" r:id="rId15"/>
    <p:sldId id="269" r:id="rId16"/>
    <p:sldId id="270" r:id="rId17"/>
    <p:sldId id="271" r:id="rId18"/>
    <p:sldId id="272" r:id="rId19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FFF"/>
    <a:srgbClr val="AC75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672" y="1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2" Type="http://schemas.openxmlformats.org/officeDocument/2006/relationships/tableStyles" Target="tableStyles.xml"/><Relationship Id="rId21" Type="http://schemas.openxmlformats.org/officeDocument/2006/relationships/viewProps" Target="viewProps.xml"/><Relationship Id="rId20" Type="http://schemas.openxmlformats.org/officeDocument/2006/relationships/presProps" Target="presProps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C34D3A-21F5-4581-941C-C84EE2C2DBCA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5801A7-98A4-4FBC-932A-8D2DACE238E9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C34D3A-21F5-4581-941C-C84EE2C2DBCA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5801A7-98A4-4FBC-932A-8D2DACE238E9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C34D3A-21F5-4581-941C-C84EE2C2DBCA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5801A7-98A4-4FBC-932A-8D2DACE238E9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C34D3A-21F5-4581-941C-C84EE2C2DBCA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5801A7-98A4-4FBC-932A-8D2DACE238E9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C34D3A-21F5-4581-941C-C84EE2C2DBCA}" type="datetimeFigureOut">
              <a:rPr lang="ru-RU" smtClean="0"/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5801A7-98A4-4FBC-932A-8D2DACE238E9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C34D3A-21F5-4581-941C-C84EE2C2DBCA}" type="datetimeFigureOut">
              <a:rPr lang="ru-RU" smtClean="0"/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5801A7-98A4-4FBC-932A-8D2DACE238E9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C34D3A-21F5-4581-941C-C84EE2C2DBCA}" type="datetimeFigureOut">
              <a:rPr lang="ru-RU" smtClean="0"/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5801A7-98A4-4FBC-932A-8D2DACE238E9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C34D3A-21F5-4581-941C-C84EE2C2DBCA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5801A7-98A4-4FBC-932A-8D2DACE238E9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C34D3A-21F5-4581-941C-C84EE2C2DBCA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5801A7-98A4-4FBC-932A-8D2DACE238E9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C34D3A-21F5-4581-941C-C84EE2C2DBCA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5801A7-98A4-4FBC-932A-8D2DACE238E9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C34D3A-21F5-4581-941C-C84EE2C2DBCA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5801A7-98A4-4FBC-932A-8D2DACE238E9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C34D3A-21F5-4581-941C-C84EE2C2DBCA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5801A7-98A4-4FBC-932A-8D2DACE238E9}" type="slidenum">
              <a:rPr lang="ru-RU" smtClean="0"/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slide" Target="slide11.xml"/><Relationship Id="rId8" Type="http://schemas.openxmlformats.org/officeDocument/2006/relationships/slide" Target="slide10.xml"/><Relationship Id="rId7" Type="http://schemas.openxmlformats.org/officeDocument/2006/relationships/slide" Target="slide9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slide" Target="slide6.xml"/><Relationship Id="rId3" Type="http://schemas.openxmlformats.org/officeDocument/2006/relationships/slide" Target="slide5.xml"/><Relationship Id="rId2" Type="http://schemas.openxmlformats.org/officeDocument/2006/relationships/slide" Target="slide4.xml"/><Relationship Id="rId15" Type="http://schemas.openxmlformats.org/officeDocument/2006/relationships/slideLayout" Target="../slideLayouts/slideLayout1.xml"/><Relationship Id="rId14" Type="http://schemas.openxmlformats.org/officeDocument/2006/relationships/slide" Target="slide16.xml"/><Relationship Id="rId13" Type="http://schemas.openxmlformats.org/officeDocument/2006/relationships/slide" Target="slide15.xml"/><Relationship Id="rId12" Type="http://schemas.openxmlformats.org/officeDocument/2006/relationships/slide" Target="slide14.xml"/><Relationship Id="rId11" Type="http://schemas.openxmlformats.org/officeDocument/2006/relationships/slide" Target="slide13.xml"/><Relationship Id="rId10" Type="http://schemas.openxmlformats.org/officeDocument/2006/relationships/slide" Target="slide12.xml"/><Relationship Id="rId1" Type="http://schemas.openxmlformats.org/officeDocument/2006/relationships/slide" Target="slide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slide" Target="slide2.xml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.xml"/><Relationship Id="rId4" Type="http://schemas.openxmlformats.org/officeDocument/2006/relationships/slide" Target="slide2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slide" Target="slide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slide" Target="slide2.xml"/><Relationship Id="rId1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slide" Target="slide2.xml"/><Relationship Id="rId1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.xml"/><Relationship Id="rId4" Type="http://schemas.openxmlformats.org/officeDocument/2006/relationships/slide" Target="slide2.xml"/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slide" Target="slide2.xml"/><Relationship Id="rId2" Type="http://schemas.openxmlformats.org/officeDocument/2006/relationships/image" Target="../media/image10.png"/><Relationship Id="rId1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slide" Target="slide2.xml"/><Relationship Id="rId1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13.png"/><Relationship Id="rId2" Type="http://schemas.openxmlformats.org/officeDocument/2006/relationships/slide" Target="slide2.xml"/><Relationship Id="rId1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slide" Target="slide2.xml"/><Relationship Id="rId1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slide" Target="slide2.xml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.xml"/><Relationship Id="rId4" Type="http://schemas.openxmlformats.org/officeDocument/2006/relationships/slide" Target="slide2.xml"/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slide" Target="slide2.xml"/><Relationship Id="rId1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slide" Target="slide2.xml"/><Relationship Id="rId1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070C0"/>
            </a:gs>
            <a:gs pos="100000">
              <a:srgbClr val="00B0F0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689100" y="71755"/>
            <a:ext cx="9144000" cy="2025650"/>
          </a:xfrm>
        </p:spPr>
        <p:txBody>
          <a:bodyPr>
            <a:noAutofit/>
          </a:bodyPr>
          <a:lstStyle/>
          <a:p>
            <a:pPr>
              <a:lnSpc>
                <a:spcPts val="3550"/>
              </a:lnSpc>
            </a:pPr>
            <a:r>
              <a:rPr lang="ru-RU" sz="2800" b="1" dirty="0">
                <a:solidFill>
                  <a:schemeClr val="bg1"/>
                </a:solidFill>
                <a:ea typeface="Fraunces Extra Bold" pitchFamily="34" charset="-122"/>
                <a:cs typeface="Times New Roman" panose="02020603050405020304" pitchFamily="18" charset="0"/>
              </a:rPr>
              <a:t>Ликино-Дулевский политехнический колледж – филиал </a:t>
            </a:r>
            <a:r>
              <a:rPr lang="ru-RU" sz="2800" b="1" dirty="0" smtClean="0">
                <a:solidFill>
                  <a:schemeClr val="bg1"/>
                </a:solidFill>
                <a:ea typeface="Fraunces Extra Bold" pitchFamily="34" charset="-122"/>
                <a:cs typeface="Times New Roman" panose="02020603050405020304" pitchFamily="18" charset="0"/>
              </a:rPr>
              <a:t>ГОУ </a:t>
            </a:r>
            <a:br>
              <a:rPr lang="ru-RU" sz="2800" b="1" dirty="0">
                <a:solidFill>
                  <a:schemeClr val="bg1"/>
                </a:solidFill>
                <a:ea typeface="Fraunces Extra Bold" pitchFamily="34" charset="-122"/>
                <a:cs typeface="Times New Roman" panose="02020603050405020304" pitchFamily="18" charset="0"/>
              </a:rPr>
            </a:br>
            <a:r>
              <a:rPr lang="ru-RU" sz="2800" b="1" dirty="0">
                <a:solidFill>
                  <a:schemeClr val="bg1"/>
                </a:solidFill>
                <a:ea typeface="Fraunces Extra Bold" pitchFamily="34" charset="-122"/>
                <a:cs typeface="Times New Roman" panose="02020603050405020304" pitchFamily="18" charset="0"/>
              </a:rPr>
              <a:t>ВО МО Государственное образовательное учреждение</a:t>
            </a:r>
            <a:br>
              <a:rPr lang="ru-RU" sz="2800" b="1" dirty="0">
                <a:solidFill>
                  <a:schemeClr val="bg1"/>
                </a:solidFill>
                <a:ea typeface="Fraunces Extra Bold" pitchFamily="34" charset="-122"/>
                <a:cs typeface="Times New Roman" panose="02020603050405020304" pitchFamily="18" charset="0"/>
              </a:rPr>
            </a:br>
            <a:r>
              <a:rPr lang="ru-RU" sz="2800" b="1" dirty="0">
                <a:solidFill>
                  <a:schemeClr val="bg1"/>
                </a:solidFill>
                <a:ea typeface="Fraunces Extra Bold" pitchFamily="34" charset="-122"/>
                <a:cs typeface="Times New Roman" panose="02020603050405020304" pitchFamily="18" charset="0"/>
              </a:rPr>
              <a:t>высшего образования Московской области</a:t>
            </a:r>
            <a:endParaRPr lang="ru-RU" sz="2800" b="1" dirty="0">
              <a:solidFill>
                <a:schemeClr val="bg1"/>
              </a:solidFill>
            </a:endParaRP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9144001" y="5012266"/>
            <a:ext cx="3518780" cy="1494974"/>
          </a:xfrm>
        </p:spPr>
        <p:txBody>
          <a:bodyPr>
            <a:normAutofit/>
          </a:bodyPr>
          <a:lstStyle/>
          <a:p>
            <a:pPr algn="l"/>
            <a:r>
              <a:rPr lang="ru-RU" sz="1800" b="1" dirty="0" smtClean="0">
                <a:solidFill>
                  <a:schemeClr val="bg1"/>
                </a:solidFill>
              </a:rPr>
              <a:t>Выполнил: </a:t>
            </a:r>
            <a:r>
              <a:rPr lang="ru-RU" sz="1800" dirty="0" smtClean="0">
                <a:solidFill>
                  <a:schemeClr val="bg1"/>
                </a:solidFill>
              </a:rPr>
              <a:t>Шумов Дмитрий Михайлович</a:t>
            </a:r>
            <a:br>
              <a:rPr lang="ru-RU" sz="1800" dirty="0" smtClean="0">
                <a:solidFill>
                  <a:schemeClr val="bg1"/>
                </a:solidFill>
              </a:rPr>
            </a:br>
            <a:r>
              <a:rPr lang="ru-RU" sz="1800" b="1" dirty="0" smtClean="0">
                <a:solidFill>
                  <a:schemeClr val="bg1"/>
                </a:solidFill>
              </a:rPr>
              <a:t>Группа: </a:t>
            </a:r>
            <a:r>
              <a:rPr lang="ru-RU" sz="1800" dirty="0" smtClean="0">
                <a:solidFill>
                  <a:schemeClr val="bg1"/>
                </a:solidFill>
              </a:rPr>
              <a:t>ИСП.23.1А</a:t>
            </a:r>
            <a:br>
              <a:rPr lang="ru-RU" sz="1800" dirty="0" smtClean="0">
                <a:solidFill>
                  <a:schemeClr val="bg1"/>
                </a:solidFill>
              </a:rPr>
            </a:br>
            <a:r>
              <a:rPr lang="ru-RU" sz="1800" b="1" dirty="0" smtClean="0">
                <a:solidFill>
                  <a:schemeClr val="bg1"/>
                </a:solidFill>
              </a:rPr>
              <a:t>Руководитель: Селиверстова О.М, </a:t>
            </a:r>
            <a:r>
              <a:rPr lang="ru-RU" sz="1800" b="1" dirty="0" err="1" smtClean="0">
                <a:solidFill>
                  <a:schemeClr val="bg1"/>
                </a:solidFill>
              </a:rPr>
              <a:t>Гжегожевский</a:t>
            </a:r>
            <a:r>
              <a:rPr lang="ru-RU" sz="1800" b="1" dirty="0" smtClean="0">
                <a:solidFill>
                  <a:schemeClr val="bg1"/>
                </a:solidFill>
              </a:rPr>
              <a:t> С.В</a:t>
            </a:r>
            <a:endParaRPr lang="ru-RU" sz="1800" b="1" dirty="0">
              <a:solidFill>
                <a:schemeClr val="bg1"/>
              </a:solidFill>
            </a:endParaRPr>
          </a:p>
        </p:txBody>
      </p:sp>
      <p:sp>
        <p:nvSpPr>
          <p:cNvPr id="4" name="Подзаголовок 2"/>
          <p:cNvSpPr txBox="1"/>
          <p:nvPr/>
        </p:nvSpPr>
        <p:spPr>
          <a:xfrm>
            <a:off x="2339785" y="2314814"/>
            <a:ext cx="7842168" cy="14949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b="1" dirty="0" smtClean="0">
                <a:solidFill>
                  <a:schemeClr val="bg1"/>
                </a:solidFill>
              </a:rPr>
              <a:t>09.02.07 УП.11 25</a:t>
            </a:r>
            <a:endParaRPr lang="ru-RU" b="1" dirty="0" smtClean="0">
              <a:solidFill>
                <a:schemeClr val="bg1"/>
              </a:solidFill>
            </a:endParaRPr>
          </a:p>
          <a:p>
            <a:r>
              <a:rPr lang="ru-RU" b="1" dirty="0" smtClean="0">
                <a:solidFill>
                  <a:schemeClr val="bg1"/>
                </a:solidFill>
              </a:rPr>
              <a:t> Тема: «Система мониторинга научных направлений студентов»</a:t>
            </a:r>
            <a:endParaRPr lang="ru-RU" b="1" dirty="0">
              <a:solidFill>
                <a:schemeClr val="bg1"/>
              </a:solidFill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4736869" y="6407652"/>
            <a:ext cx="6096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b="1" dirty="0" smtClean="0">
                <a:solidFill>
                  <a:schemeClr val="bg1"/>
                </a:solidFill>
              </a:rPr>
              <a:t>Г. Ликино-</a:t>
            </a:r>
            <a:r>
              <a:rPr lang="ru-RU" b="1" dirty="0" err="1" smtClean="0">
                <a:solidFill>
                  <a:schemeClr val="bg1"/>
                </a:solidFill>
              </a:rPr>
              <a:t>Дулёво</a:t>
            </a:r>
            <a:r>
              <a:rPr lang="ru-RU" b="1" dirty="0" smtClean="0">
                <a:solidFill>
                  <a:schemeClr val="bg1"/>
                </a:solidFill>
              </a:rPr>
              <a:t>, 2026 г.</a:t>
            </a:r>
            <a:endParaRPr lang="ru-RU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070C0"/>
            </a:gs>
            <a:gs pos="100000">
              <a:srgbClr val="00B0F0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0" y="208280"/>
            <a:ext cx="11745595" cy="834390"/>
          </a:xfrm>
        </p:spPr>
        <p:txBody>
          <a:bodyPr>
            <a:normAutofit fontScale="90000"/>
          </a:bodyPr>
          <a:lstStyle/>
          <a:p>
            <a:pPr algn="l"/>
            <a:r>
              <a:rPr lang="ru-RU" dirty="0" smtClean="0">
                <a:solidFill>
                  <a:schemeClr val="bg1"/>
                </a:solidFill>
              </a:rPr>
              <a:t>Оглавление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овое поле 2">
            <a:hlinkClick r:id="rId1" tooltip="" action="ppaction://hlinksldjump"/>
          </p:cNvPr>
          <p:cNvSpPr txBox="1"/>
          <p:nvPr/>
        </p:nvSpPr>
        <p:spPr>
          <a:xfrm>
            <a:off x="149225" y="1337310"/>
            <a:ext cx="3614420" cy="4298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ru-RU" sz="2200" b="1" dirty="0" smtClean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  <a:sym typeface="+mn-ea"/>
              </a:rPr>
              <a:t>1</a:t>
            </a:r>
            <a:r>
              <a:rPr lang="ru-RU" altLang="ru-RU" sz="2200" b="1" dirty="0" smtClean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  <a:sym typeface="+mn-ea"/>
              </a:rPr>
              <a:t>. Постановка задачи</a:t>
            </a:r>
            <a:endParaRPr lang="ru-RU" altLang="ru-RU" sz="2200" b="1" dirty="0" smtClean="0">
              <a:solidFill>
                <a:schemeClr val="bg1"/>
              </a:solidFill>
              <a:effectLst/>
              <a:latin typeface="Calibri" panose="020F0502020204030204" pitchFamily="34" charset="0"/>
              <a:cs typeface="Calibri" panose="020F0502020204030204" pitchFamily="34" charset="0"/>
              <a:sym typeface="+mn-ea"/>
            </a:endParaRPr>
          </a:p>
        </p:txBody>
      </p:sp>
      <p:sp>
        <p:nvSpPr>
          <p:cNvPr id="4" name="Текстовое поле 3">
            <a:hlinkClick r:id="rId2" tooltip="" action="ppaction://hlinksldjump"/>
          </p:cNvPr>
          <p:cNvSpPr txBox="1"/>
          <p:nvPr/>
        </p:nvSpPr>
        <p:spPr>
          <a:xfrm>
            <a:off x="149225" y="2061845"/>
            <a:ext cx="4726305" cy="4298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ru-RU" altLang="ru-RU" sz="2200" b="1" dirty="0" smtClean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  <a:sym typeface="+mn-ea"/>
              </a:rPr>
              <a:t>2. Функциональный анализ №1</a:t>
            </a:r>
            <a:endParaRPr lang="ru-RU" altLang="ru-RU" sz="2200" b="1" dirty="0" smtClean="0">
              <a:solidFill>
                <a:schemeClr val="bg1"/>
              </a:solidFill>
              <a:effectLst/>
              <a:latin typeface="Calibri" panose="020F0502020204030204" pitchFamily="34" charset="0"/>
              <a:cs typeface="Calibri" panose="020F0502020204030204" pitchFamily="34" charset="0"/>
              <a:sym typeface="+mn-ea"/>
            </a:endParaRPr>
          </a:p>
        </p:txBody>
      </p:sp>
      <p:sp>
        <p:nvSpPr>
          <p:cNvPr id="5" name="Текстовое поле 4">
            <a:hlinkClick r:id="rId3" tooltip="" action="ppaction://hlinksldjump"/>
          </p:cNvPr>
          <p:cNvSpPr txBox="1"/>
          <p:nvPr/>
        </p:nvSpPr>
        <p:spPr>
          <a:xfrm>
            <a:off x="149225" y="2786380"/>
            <a:ext cx="4726305" cy="4298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ru-RU" altLang="ru-RU" sz="2200" b="1" dirty="0" smtClean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  <a:sym typeface="+mn-ea"/>
              </a:rPr>
              <a:t>3. Функциональный анализ №2</a:t>
            </a:r>
            <a:endParaRPr lang="ru-RU" altLang="ru-RU" sz="2200" b="1" dirty="0" smtClean="0">
              <a:solidFill>
                <a:schemeClr val="bg1"/>
              </a:solidFill>
              <a:effectLst/>
              <a:latin typeface="Calibri" panose="020F0502020204030204" pitchFamily="34" charset="0"/>
              <a:cs typeface="Calibri" panose="020F0502020204030204" pitchFamily="34" charset="0"/>
              <a:sym typeface="+mn-ea"/>
            </a:endParaRPr>
          </a:p>
        </p:txBody>
      </p:sp>
      <p:sp>
        <p:nvSpPr>
          <p:cNvPr id="6" name="Текстовое поле 5">
            <a:hlinkClick r:id="rId4" tooltip="" action="ppaction://hlinksldjump"/>
          </p:cNvPr>
          <p:cNvSpPr txBox="1"/>
          <p:nvPr/>
        </p:nvSpPr>
        <p:spPr>
          <a:xfrm>
            <a:off x="149225" y="3510915"/>
            <a:ext cx="4726305" cy="4298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ru-RU" altLang="ru-RU" sz="2200" b="1" dirty="0" smtClean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  <a:sym typeface="+mn-ea"/>
              </a:rPr>
              <a:t>4. </a:t>
            </a:r>
            <a:r>
              <a:rPr lang="en-US" altLang="ru-RU" sz="2200" b="1" dirty="0" smtClean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  <a:sym typeface="+mn-ea"/>
              </a:rPr>
              <a:t>UML</a:t>
            </a:r>
            <a:endParaRPr lang="en-US" altLang="ru-RU" sz="2200" b="1" dirty="0" smtClean="0">
              <a:solidFill>
                <a:schemeClr val="bg1"/>
              </a:solidFill>
              <a:effectLst/>
              <a:latin typeface="Calibri" panose="020F0502020204030204" pitchFamily="34" charset="0"/>
              <a:cs typeface="Calibri" panose="020F0502020204030204" pitchFamily="34" charset="0"/>
              <a:sym typeface="+mn-ea"/>
            </a:endParaRPr>
          </a:p>
        </p:txBody>
      </p:sp>
      <p:sp>
        <p:nvSpPr>
          <p:cNvPr id="7" name="Текстовое поле 6">
            <a:hlinkClick r:id="rId5" tooltip="" action="ppaction://hlinksldjump"/>
          </p:cNvPr>
          <p:cNvSpPr txBox="1"/>
          <p:nvPr/>
        </p:nvSpPr>
        <p:spPr>
          <a:xfrm>
            <a:off x="149225" y="4235450"/>
            <a:ext cx="4726305" cy="4298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ru-RU" sz="2200" b="1" dirty="0" smtClean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  <a:sym typeface="+mn-ea"/>
              </a:rPr>
              <a:t>5</a:t>
            </a:r>
            <a:r>
              <a:rPr lang="ru-RU" altLang="ru-RU" sz="2200" b="1" dirty="0" smtClean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  <a:sym typeface="+mn-ea"/>
              </a:rPr>
              <a:t>.</a:t>
            </a:r>
            <a:r>
              <a:rPr lang="en-US" altLang="ru-RU" sz="2200" b="1" dirty="0" smtClean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  <a:sym typeface="+mn-ea"/>
              </a:rPr>
              <a:t> ER-</a:t>
            </a:r>
            <a:r>
              <a:rPr lang="ru-RU" altLang="ru-RU" sz="2200" b="1" dirty="0" smtClean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  <a:sym typeface="+mn-ea"/>
              </a:rPr>
              <a:t>модель БД</a:t>
            </a:r>
            <a:endParaRPr lang="en-US" altLang="ru-RU" sz="2200" b="1" dirty="0" smtClean="0">
              <a:solidFill>
                <a:schemeClr val="bg1"/>
              </a:solidFill>
              <a:effectLst/>
              <a:latin typeface="Calibri" panose="020F0502020204030204" pitchFamily="34" charset="0"/>
              <a:cs typeface="Calibri" panose="020F0502020204030204" pitchFamily="34" charset="0"/>
              <a:sym typeface="+mn-ea"/>
            </a:endParaRPr>
          </a:p>
        </p:txBody>
      </p:sp>
      <p:sp>
        <p:nvSpPr>
          <p:cNvPr id="8" name="Текстовое поле 7">
            <a:hlinkClick r:id="rId6" tooltip="" action="ppaction://hlinksldjump"/>
          </p:cNvPr>
          <p:cNvSpPr txBox="1"/>
          <p:nvPr/>
        </p:nvSpPr>
        <p:spPr>
          <a:xfrm>
            <a:off x="149225" y="4959985"/>
            <a:ext cx="4726305" cy="4298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ru-RU" altLang="ru-RU" sz="2200" b="1" dirty="0" smtClean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  <a:sym typeface="+mn-ea"/>
              </a:rPr>
              <a:t>6.</a:t>
            </a:r>
            <a:r>
              <a:rPr lang="en-US" altLang="ru-RU" sz="2200" b="1" dirty="0" smtClean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  <a:sym typeface="+mn-ea"/>
              </a:rPr>
              <a:t> </a:t>
            </a:r>
            <a:r>
              <a:rPr lang="ru-RU" altLang="en-US" sz="2200" b="1" dirty="0" smtClean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  <a:sym typeface="+mn-ea"/>
              </a:rPr>
              <a:t>Примеры запросов</a:t>
            </a:r>
            <a:endParaRPr lang="ru-RU" altLang="en-US" sz="2200" b="1" dirty="0" smtClean="0">
              <a:solidFill>
                <a:schemeClr val="bg1"/>
              </a:solidFill>
              <a:effectLst/>
              <a:latin typeface="Calibri" panose="020F0502020204030204" pitchFamily="34" charset="0"/>
              <a:cs typeface="Calibri" panose="020F0502020204030204" pitchFamily="34" charset="0"/>
              <a:sym typeface="+mn-ea"/>
            </a:endParaRPr>
          </a:p>
        </p:txBody>
      </p:sp>
      <p:sp>
        <p:nvSpPr>
          <p:cNvPr id="9" name="Текстовое поле 8">
            <a:hlinkClick r:id="rId7" tooltip="" action="ppaction://hlinksldjump"/>
          </p:cNvPr>
          <p:cNvSpPr txBox="1"/>
          <p:nvPr/>
        </p:nvSpPr>
        <p:spPr>
          <a:xfrm>
            <a:off x="149225" y="5586095"/>
            <a:ext cx="4726305" cy="4298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ru-RU" altLang="ru-RU" sz="2200" b="1" dirty="0" smtClean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  <a:sym typeface="+mn-ea"/>
              </a:rPr>
              <a:t>7.</a:t>
            </a:r>
            <a:r>
              <a:rPr lang="en-US" altLang="ru-RU" sz="2200" b="1" dirty="0" smtClean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  <a:sym typeface="+mn-ea"/>
              </a:rPr>
              <a:t> </a:t>
            </a:r>
            <a:r>
              <a:rPr lang="ru-RU" altLang="en-US" sz="2200" b="1" dirty="0" smtClean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  <a:sym typeface="+mn-ea"/>
              </a:rPr>
              <a:t>Хранимые процедуры, функции</a:t>
            </a:r>
            <a:endParaRPr lang="ru-RU" altLang="en-US" sz="2200" b="1" dirty="0" smtClean="0">
              <a:solidFill>
                <a:schemeClr val="bg1"/>
              </a:solidFill>
              <a:effectLst/>
              <a:latin typeface="Calibri" panose="020F0502020204030204" pitchFamily="34" charset="0"/>
              <a:cs typeface="Calibri" panose="020F0502020204030204" pitchFamily="34" charset="0"/>
              <a:sym typeface="+mn-ea"/>
            </a:endParaRPr>
          </a:p>
        </p:txBody>
      </p:sp>
      <p:sp>
        <p:nvSpPr>
          <p:cNvPr id="10" name="Текстовое поле 9">
            <a:hlinkClick r:id="rId8" tooltip="" action="ppaction://hlinksldjump"/>
          </p:cNvPr>
          <p:cNvSpPr txBox="1"/>
          <p:nvPr/>
        </p:nvSpPr>
        <p:spPr>
          <a:xfrm>
            <a:off x="149225" y="6212205"/>
            <a:ext cx="4726305" cy="4298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ru-RU" altLang="ru-RU" sz="2200" b="1" dirty="0" smtClean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  <a:sym typeface="+mn-ea"/>
              </a:rPr>
              <a:t>8.</a:t>
            </a:r>
            <a:r>
              <a:rPr lang="en-US" altLang="ru-RU" sz="2200" b="1" dirty="0" smtClean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  <a:sym typeface="+mn-ea"/>
              </a:rPr>
              <a:t> </a:t>
            </a:r>
            <a:r>
              <a:rPr lang="ru-RU" altLang="en-US" sz="2200" b="1" dirty="0" smtClean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  <a:sym typeface="+mn-ea"/>
              </a:rPr>
              <a:t>Триггеры</a:t>
            </a:r>
            <a:endParaRPr lang="ru-RU" altLang="en-US" sz="2200" b="1" dirty="0" smtClean="0">
              <a:solidFill>
                <a:schemeClr val="bg1"/>
              </a:solidFill>
              <a:effectLst/>
              <a:latin typeface="Calibri" panose="020F0502020204030204" pitchFamily="34" charset="0"/>
              <a:cs typeface="Calibri" panose="020F0502020204030204" pitchFamily="34" charset="0"/>
              <a:sym typeface="+mn-ea"/>
            </a:endParaRPr>
          </a:p>
        </p:txBody>
      </p:sp>
      <p:sp>
        <p:nvSpPr>
          <p:cNvPr id="11" name="Текстовое поле 10">
            <a:hlinkClick r:id="rId9" tooltip="" action="ppaction://hlinksldjump"/>
          </p:cNvPr>
          <p:cNvSpPr txBox="1"/>
          <p:nvPr/>
        </p:nvSpPr>
        <p:spPr>
          <a:xfrm>
            <a:off x="5786755" y="1337310"/>
            <a:ext cx="4726305" cy="4298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ru-RU" altLang="ru-RU" sz="2200" b="1" dirty="0" smtClean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  <a:sym typeface="+mn-ea"/>
              </a:rPr>
              <a:t>9.</a:t>
            </a:r>
            <a:r>
              <a:rPr lang="en-US" altLang="ru-RU" sz="2200" b="1" dirty="0" smtClean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  <a:sym typeface="+mn-ea"/>
              </a:rPr>
              <a:t> </a:t>
            </a:r>
            <a:r>
              <a:rPr lang="ru-RU" altLang="en-US" sz="2200" b="1" dirty="0" smtClean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  <a:sym typeface="+mn-ea"/>
              </a:rPr>
              <a:t>Пользователи и исключения</a:t>
            </a:r>
            <a:endParaRPr lang="ru-RU" altLang="en-US" sz="2200" b="1" dirty="0" smtClean="0">
              <a:solidFill>
                <a:schemeClr val="bg1"/>
              </a:solidFill>
              <a:effectLst/>
              <a:latin typeface="Calibri" panose="020F0502020204030204" pitchFamily="34" charset="0"/>
              <a:cs typeface="Calibri" panose="020F0502020204030204" pitchFamily="34" charset="0"/>
              <a:sym typeface="+mn-ea"/>
            </a:endParaRPr>
          </a:p>
        </p:txBody>
      </p:sp>
      <p:sp>
        <p:nvSpPr>
          <p:cNvPr id="12" name="Текстовое поле 11">
            <a:hlinkClick r:id="rId10" tooltip="" action="ppaction://hlinksldjump"/>
          </p:cNvPr>
          <p:cNvSpPr txBox="1"/>
          <p:nvPr/>
        </p:nvSpPr>
        <p:spPr>
          <a:xfrm>
            <a:off x="5786755" y="2061845"/>
            <a:ext cx="4726305" cy="4298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ru-RU" altLang="ru-RU" sz="2200" b="1" dirty="0" smtClean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  <a:sym typeface="+mn-ea"/>
              </a:rPr>
              <a:t>10.</a:t>
            </a:r>
            <a:r>
              <a:rPr lang="en-US" altLang="ru-RU" sz="2200" b="1" dirty="0" smtClean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  <a:sym typeface="+mn-ea"/>
              </a:rPr>
              <a:t> </a:t>
            </a:r>
            <a:r>
              <a:rPr lang="ru-RU" altLang="en-US" sz="2200" b="1" dirty="0" smtClean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  <a:sym typeface="+mn-ea"/>
              </a:rPr>
              <a:t>Графовая БД</a:t>
            </a:r>
            <a:endParaRPr lang="ru-RU" altLang="en-US" sz="2200" b="1" dirty="0" smtClean="0">
              <a:solidFill>
                <a:schemeClr val="bg1"/>
              </a:solidFill>
              <a:effectLst/>
              <a:latin typeface="Calibri" panose="020F0502020204030204" pitchFamily="34" charset="0"/>
              <a:cs typeface="Calibri" panose="020F0502020204030204" pitchFamily="34" charset="0"/>
              <a:sym typeface="+mn-ea"/>
            </a:endParaRPr>
          </a:p>
        </p:txBody>
      </p:sp>
      <p:sp>
        <p:nvSpPr>
          <p:cNvPr id="13" name="Текстовое поле 12">
            <a:hlinkClick r:id="rId11" tooltip="" action="ppaction://hlinksldjump"/>
          </p:cNvPr>
          <p:cNvSpPr txBox="1"/>
          <p:nvPr/>
        </p:nvSpPr>
        <p:spPr>
          <a:xfrm>
            <a:off x="5786755" y="2786380"/>
            <a:ext cx="4726305" cy="4298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ru-RU" altLang="ru-RU" sz="2200" b="1" dirty="0" smtClean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  <a:sym typeface="+mn-ea"/>
              </a:rPr>
              <a:t>11.</a:t>
            </a:r>
            <a:r>
              <a:rPr lang="en-US" altLang="ru-RU" sz="2200" b="1" dirty="0" smtClean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  <a:sym typeface="+mn-ea"/>
              </a:rPr>
              <a:t> </a:t>
            </a:r>
            <a:r>
              <a:rPr lang="ru-RU" altLang="en-US" sz="2200" b="1" dirty="0" smtClean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  <a:sym typeface="+mn-ea"/>
              </a:rPr>
              <a:t>Запросы к данным</a:t>
            </a:r>
            <a:endParaRPr lang="ru-RU" altLang="en-US" sz="2200" b="1" dirty="0" smtClean="0">
              <a:solidFill>
                <a:schemeClr val="bg1"/>
              </a:solidFill>
              <a:effectLst/>
              <a:latin typeface="Calibri" panose="020F0502020204030204" pitchFamily="34" charset="0"/>
              <a:cs typeface="Calibri" panose="020F0502020204030204" pitchFamily="34" charset="0"/>
              <a:sym typeface="+mn-ea"/>
            </a:endParaRPr>
          </a:p>
        </p:txBody>
      </p:sp>
      <p:sp>
        <p:nvSpPr>
          <p:cNvPr id="14" name="Текстовое поле 13">
            <a:hlinkClick r:id="rId12" tooltip="" action="ppaction://hlinksldjump"/>
          </p:cNvPr>
          <p:cNvSpPr txBox="1"/>
          <p:nvPr/>
        </p:nvSpPr>
        <p:spPr>
          <a:xfrm>
            <a:off x="5786755" y="3510915"/>
            <a:ext cx="4726305" cy="4298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ru-RU" altLang="ru-RU" sz="2200" b="1" dirty="0" smtClean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  <a:sym typeface="+mn-ea"/>
              </a:rPr>
              <a:t>12. Создание визуализаций</a:t>
            </a:r>
            <a:endParaRPr lang="ru-RU" altLang="en-US" sz="2200" b="1" dirty="0" smtClean="0">
              <a:solidFill>
                <a:schemeClr val="bg1"/>
              </a:solidFill>
              <a:effectLst/>
              <a:latin typeface="Calibri" panose="020F0502020204030204" pitchFamily="34" charset="0"/>
              <a:cs typeface="Calibri" panose="020F0502020204030204" pitchFamily="34" charset="0"/>
              <a:sym typeface="+mn-ea"/>
            </a:endParaRPr>
          </a:p>
        </p:txBody>
      </p:sp>
      <p:sp>
        <p:nvSpPr>
          <p:cNvPr id="15" name="Текстовое поле 14">
            <a:hlinkClick r:id="rId13" tooltip="" action="ppaction://hlinksldjump"/>
          </p:cNvPr>
          <p:cNvSpPr txBox="1"/>
          <p:nvPr/>
        </p:nvSpPr>
        <p:spPr>
          <a:xfrm>
            <a:off x="5786755" y="4235450"/>
            <a:ext cx="4726305" cy="4298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ru-RU" altLang="ru-RU" sz="2200" b="1" dirty="0" smtClean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  <a:sym typeface="+mn-ea"/>
              </a:rPr>
              <a:t>13. Дашборд</a:t>
            </a:r>
            <a:endParaRPr lang="ru-RU" altLang="en-US" sz="2200" b="1" dirty="0" smtClean="0">
              <a:solidFill>
                <a:schemeClr val="bg1"/>
              </a:solidFill>
              <a:effectLst/>
              <a:latin typeface="Calibri" panose="020F0502020204030204" pitchFamily="34" charset="0"/>
              <a:cs typeface="Calibri" panose="020F0502020204030204" pitchFamily="34" charset="0"/>
              <a:sym typeface="+mn-ea"/>
            </a:endParaRPr>
          </a:p>
        </p:txBody>
      </p:sp>
      <p:sp>
        <p:nvSpPr>
          <p:cNvPr id="16" name="Текстовое поле 15">
            <a:hlinkClick r:id="rId14" tooltip="" action="ppaction://hlinksldjump"/>
          </p:cNvPr>
          <p:cNvSpPr txBox="1"/>
          <p:nvPr/>
        </p:nvSpPr>
        <p:spPr>
          <a:xfrm>
            <a:off x="5786755" y="4959985"/>
            <a:ext cx="4726305" cy="4298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ru-RU" altLang="ru-RU" sz="2200" b="1" dirty="0" smtClean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  <a:sym typeface="+mn-ea"/>
              </a:rPr>
              <a:t>14. Параметры и расчеты</a:t>
            </a:r>
            <a:endParaRPr lang="ru-RU" altLang="en-US" sz="2200" b="1" dirty="0" smtClean="0">
              <a:solidFill>
                <a:schemeClr val="bg1"/>
              </a:solidFill>
              <a:effectLst/>
              <a:latin typeface="Calibri" panose="020F0502020204030204" pitchFamily="34" charset="0"/>
              <a:cs typeface="Calibri" panose="020F0502020204030204" pitchFamily="34" charset="0"/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070C0"/>
            </a:gs>
            <a:gs pos="100000">
              <a:srgbClr val="00B0F0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0" y="207963"/>
            <a:ext cx="10792691" cy="884237"/>
          </a:xfrm>
        </p:spPr>
        <p:txBody>
          <a:bodyPr>
            <a:normAutofit fontScale="90000"/>
          </a:bodyPr>
          <a:lstStyle/>
          <a:p>
            <a:pPr algn="l"/>
            <a:r>
              <a:rPr lang="ru-RU" dirty="0" smtClean="0">
                <a:solidFill>
                  <a:schemeClr val="bg1"/>
                </a:solidFill>
              </a:rPr>
              <a:t>Постановка задачи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254000" y="1092200"/>
            <a:ext cx="6096000" cy="483108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2200" b="1" i="0" dirty="0" smtClean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Проблема:</a:t>
            </a:r>
            <a:br>
              <a:rPr lang="ru-RU" sz="2200" b="0" i="0" dirty="0" smtClean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ru-RU" sz="2200" b="0" i="0" dirty="0" smtClean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Ручной сбор данных о выборе научных направлений → ошибки, потери данных, сложность контроля лимитов, высокая трудоемкость группировки и проверки.</a:t>
            </a:r>
            <a:endParaRPr lang="ru-RU" sz="2200" b="0" i="0" dirty="0" smtClean="0">
              <a:solidFill>
                <a:schemeClr val="bg1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ru-RU" sz="2200" b="1" i="0" dirty="0" smtClean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Цель:</a:t>
            </a:r>
            <a:br>
              <a:rPr lang="ru-RU" sz="2200" b="0" i="0" dirty="0" smtClean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ru-RU" sz="2200" b="0" i="0" dirty="0" smtClean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Разработать АИС, автоматизирующую цикл сбора и обработки данных о выборе научных направлений студентами.</a:t>
            </a:r>
            <a:endParaRPr lang="ru-RU" sz="2200" b="0" i="0" dirty="0" smtClean="0">
              <a:solidFill>
                <a:schemeClr val="bg1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ru-RU" sz="2200" b="1" i="0" dirty="0" smtClean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Ожидаемый результат:</a:t>
            </a:r>
            <a:br>
              <a:rPr lang="ru-RU" sz="2200" b="0" i="0" dirty="0" smtClean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ru-RU" sz="2200" b="0" i="0" dirty="0" smtClean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Полностью автоматизированный цикл: от выдачи бланка до итогового отчета проректору без ручной группировки и с минимизацией ошибок.</a:t>
            </a:r>
            <a:endParaRPr lang="ru-RU" sz="2200" b="0" i="0" dirty="0">
              <a:solidFill>
                <a:schemeClr val="bg1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Текстовое поле 4">
            <a:hlinkClick r:id="rId1" tooltip="" action="ppaction://hlinksldjump"/>
          </p:cNvPr>
          <p:cNvSpPr txBox="1"/>
          <p:nvPr/>
        </p:nvSpPr>
        <p:spPr>
          <a:xfrm>
            <a:off x="10215880" y="208280"/>
            <a:ext cx="1758315" cy="4298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ru-RU" altLang="en-US" sz="2200" dirty="0" smtClean="0">
                <a:solidFill>
                  <a:schemeClr val="bg1"/>
                </a:solidFill>
                <a:effectLst/>
                <a:latin typeface="quote-cjk-patch"/>
                <a:sym typeface="+mn-ea"/>
              </a:rPr>
              <a:t>Оглавление</a:t>
            </a:r>
            <a:endParaRPr lang="ru-RU" altLang="en-US" sz="2200" dirty="0" smtClean="0">
              <a:solidFill>
                <a:schemeClr val="bg1"/>
              </a:solidFill>
              <a:effectLst/>
              <a:latin typeface="quote-cjk-patch"/>
              <a:sym typeface="+mn-ea"/>
            </a:endParaRPr>
          </a:p>
        </p:txBody>
      </p:sp>
      <p:sp>
        <p:nvSpPr>
          <p:cNvPr id="9" name="Текстовое поле 8"/>
          <p:cNvSpPr txBox="1"/>
          <p:nvPr/>
        </p:nvSpPr>
        <p:spPr>
          <a:xfrm>
            <a:off x="6593840" y="1208405"/>
            <a:ext cx="5080000" cy="3317875"/>
          </a:xfrm>
          <a:prstGeom prst="rect">
            <a:avLst/>
          </a:prstGeom>
        </p:spPr>
        <p:txBody>
          <a:bodyPr>
            <a:noAutofit/>
          </a:bodyPr>
          <a:p>
            <a:pPr marL="0" indent="0">
              <a:lnSpc>
                <a:spcPts val="2100"/>
              </a:lnSpc>
              <a:spcBef>
                <a:spcPts val="1200"/>
              </a:spcBef>
              <a:spcAft>
                <a:spcPct val="0"/>
              </a:spcAft>
            </a:pPr>
            <a:r>
              <a:rPr lang="ru-RU" sz="2200" b="1" dirty="0" smtClean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  <a:sym typeface="+mn-ea"/>
              </a:rPr>
              <a:t>Задачи по ролям:</a:t>
            </a:r>
            <a:endParaRPr sz="2200" b="0" i="0">
              <a:solidFill>
                <a:schemeClr val="bg1"/>
              </a:solidFill>
              <a:latin typeface="Calibri" panose="020F0502020204030204" pitchFamily="34" charset="0"/>
              <a:ea typeface="quote-cjk-patch"/>
              <a:cs typeface="Calibri" panose="020F0502020204030204" pitchFamily="34" charset="0"/>
            </a:endParaRPr>
          </a:p>
          <a:p>
            <a:pPr marL="0" indent="0">
              <a:lnSpc>
                <a:spcPts val="2100"/>
              </a:lnSpc>
              <a:spcBef>
                <a:spcPts val="1200"/>
              </a:spcBef>
              <a:spcAft>
                <a:spcPct val="0"/>
              </a:spcAft>
            </a:pPr>
            <a:r>
              <a:rPr sz="2200" b="0" i="0">
                <a:solidFill>
                  <a:schemeClr val="bg1"/>
                </a:solidFill>
                <a:latin typeface="Calibri" panose="020F0502020204030204" pitchFamily="34" charset="0"/>
                <a:ea typeface="quote-cjk-patch"/>
                <a:cs typeface="Calibri" panose="020F0502020204030204" pitchFamily="34" charset="0"/>
              </a:rPr>
              <a:t>Студент – выбирает направление</a:t>
            </a:r>
            <a:endParaRPr sz="2200" b="0" i="0">
              <a:solidFill>
                <a:schemeClr val="bg1"/>
              </a:solidFill>
              <a:latin typeface="Calibri" panose="020F0502020204030204" pitchFamily="34" charset="0"/>
              <a:ea typeface="quote-cjk-patch"/>
              <a:cs typeface="Calibri" panose="020F0502020204030204" pitchFamily="34" charset="0"/>
            </a:endParaRPr>
          </a:p>
          <a:p>
            <a:pPr marL="0" indent="0">
              <a:lnSpc>
                <a:spcPts val="2100"/>
              </a:lnSpc>
              <a:spcBef>
                <a:spcPts val="1200"/>
              </a:spcBef>
              <a:spcAft>
                <a:spcPct val="0"/>
              </a:spcAft>
            </a:pPr>
            <a:r>
              <a:rPr sz="2200" b="0" i="0">
                <a:solidFill>
                  <a:schemeClr val="bg1"/>
                </a:solidFill>
                <a:latin typeface="Calibri" panose="020F0502020204030204" pitchFamily="34" charset="0"/>
                <a:ea typeface="quote-cjk-patch"/>
                <a:cs typeface="Calibri" panose="020F0502020204030204" pitchFamily="34" charset="0"/>
              </a:rPr>
              <a:t>Преподаватель – проверяет данные</a:t>
            </a:r>
            <a:endParaRPr sz="2200" b="0" i="0">
              <a:solidFill>
                <a:schemeClr val="bg1"/>
              </a:solidFill>
              <a:latin typeface="Calibri" panose="020F0502020204030204" pitchFamily="34" charset="0"/>
              <a:ea typeface="quote-cjk-patch"/>
              <a:cs typeface="Calibri" panose="020F0502020204030204" pitchFamily="34" charset="0"/>
            </a:endParaRPr>
          </a:p>
          <a:p>
            <a:pPr marL="0" indent="0">
              <a:lnSpc>
                <a:spcPts val="2100"/>
              </a:lnSpc>
              <a:spcBef>
                <a:spcPts val="1200"/>
              </a:spcBef>
              <a:spcAft>
                <a:spcPct val="0"/>
              </a:spcAft>
            </a:pPr>
            <a:r>
              <a:rPr sz="2200" b="0" i="0">
                <a:solidFill>
                  <a:schemeClr val="bg1"/>
                </a:solidFill>
                <a:latin typeface="Calibri" panose="020F0502020204030204" pitchFamily="34" charset="0"/>
                <a:ea typeface="quote-cjk-patch"/>
                <a:cs typeface="Calibri" panose="020F0502020204030204" pitchFamily="34" charset="0"/>
              </a:rPr>
              <a:t>Куратор – контролирует лимиты</a:t>
            </a:r>
            <a:endParaRPr sz="2200" b="0" i="0">
              <a:solidFill>
                <a:schemeClr val="bg1"/>
              </a:solidFill>
              <a:latin typeface="Calibri" panose="020F0502020204030204" pitchFamily="34" charset="0"/>
              <a:ea typeface="quote-cjk-patch"/>
              <a:cs typeface="Calibri" panose="020F0502020204030204" pitchFamily="34" charset="0"/>
            </a:endParaRPr>
          </a:p>
          <a:p>
            <a:pPr marL="0" indent="0">
              <a:lnSpc>
                <a:spcPts val="2100"/>
              </a:lnSpc>
              <a:spcBef>
                <a:spcPts val="1200"/>
              </a:spcBef>
              <a:spcAft>
                <a:spcPct val="0"/>
              </a:spcAft>
            </a:pPr>
            <a:r>
              <a:rPr sz="2200" b="0" i="0">
                <a:solidFill>
                  <a:schemeClr val="bg1"/>
                </a:solidFill>
                <a:latin typeface="Calibri" panose="020F0502020204030204" pitchFamily="34" charset="0"/>
                <a:ea typeface="quote-cjk-patch"/>
                <a:cs typeface="Calibri" panose="020F0502020204030204" pitchFamily="34" charset="0"/>
              </a:rPr>
              <a:t>Методист – ведёт бланки</a:t>
            </a:r>
            <a:endParaRPr sz="2200" b="0" i="0">
              <a:solidFill>
                <a:schemeClr val="bg1"/>
              </a:solidFill>
              <a:latin typeface="Calibri" panose="020F0502020204030204" pitchFamily="34" charset="0"/>
              <a:ea typeface="quote-cjk-patch"/>
              <a:cs typeface="Calibri" panose="020F0502020204030204" pitchFamily="34" charset="0"/>
            </a:endParaRPr>
          </a:p>
          <a:p>
            <a:pPr marL="0" indent="0">
              <a:lnSpc>
                <a:spcPts val="2100"/>
              </a:lnSpc>
              <a:spcBef>
                <a:spcPts val="1200"/>
              </a:spcBef>
              <a:spcAft>
                <a:spcPct val="0"/>
              </a:spcAft>
            </a:pPr>
            <a:r>
              <a:rPr sz="2200" b="0" i="0">
                <a:solidFill>
                  <a:schemeClr val="bg1"/>
                </a:solidFill>
                <a:latin typeface="Calibri" panose="020F0502020204030204" pitchFamily="34" charset="0"/>
                <a:ea typeface="quote-cjk-patch"/>
                <a:cs typeface="Calibri" panose="020F0502020204030204" pitchFamily="34" charset="0"/>
              </a:rPr>
              <a:t>Аналитик – считает статистику</a:t>
            </a:r>
            <a:endParaRPr sz="2200" b="0" i="0">
              <a:solidFill>
                <a:schemeClr val="bg1"/>
              </a:solidFill>
              <a:latin typeface="Calibri" panose="020F0502020204030204" pitchFamily="34" charset="0"/>
              <a:ea typeface="quote-cjk-patch"/>
              <a:cs typeface="Calibri" panose="020F0502020204030204" pitchFamily="34" charset="0"/>
            </a:endParaRPr>
          </a:p>
          <a:p>
            <a:pPr marL="0" indent="0">
              <a:lnSpc>
                <a:spcPts val="2100"/>
              </a:lnSpc>
              <a:spcBef>
                <a:spcPts val="1200"/>
              </a:spcBef>
              <a:spcAft>
                <a:spcPct val="0"/>
              </a:spcAft>
            </a:pPr>
            <a:r>
              <a:rPr sz="2200" b="0" i="0">
                <a:solidFill>
                  <a:schemeClr val="bg1"/>
                </a:solidFill>
                <a:latin typeface="Calibri" panose="020F0502020204030204" pitchFamily="34" charset="0"/>
                <a:ea typeface="quote-cjk-patch"/>
                <a:cs typeface="Calibri" panose="020F0502020204030204" pitchFamily="34" charset="0"/>
              </a:rPr>
              <a:t>Проректор – получает отчёт</a:t>
            </a:r>
            <a:endParaRPr sz="2200" b="0" i="0">
              <a:solidFill>
                <a:schemeClr val="bg1"/>
              </a:solidFill>
              <a:latin typeface="Calibri" panose="020F0502020204030204" pitchFamily="34" charset="0"/>
              <a:ea typeface="quote-cjk-patch"/>
              <a:cs typeface="Calibri" panose="020F050202020403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070C0"/>
            </a:gs>
            <a:gs pos="100000">
              <a:srgbClr val="00B0F0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51435" y="95250"/>
            <a:ext cx="10792460" cy="759460"/>
          </a:xfrm>
        </p:spPr>
        <p:txBody>
          <a:bodyPr>
            <a:normAutofit fontScale="90000"/>
          </a:bodyPr>
          <a:lstStyle/>
          <a:p>
            <a:pPr algn="l"/>
            <a:r>
              <a:rPr lang="ru-RU" sz="4445" dirty="0" smtClean="0">
                <a:solidFill>
                  <a:schemeClr val="bg1"/>
                </a:solidFill>
              </a:rPr>
              <a:t>Функциональный анализ №1</a:t>
            </a:r>
            <a:endParaRPr lang="ru-RU" sz="4445" dirty="0">
              <a:solidFill>
                <a:schemeClr val="bg1"/>
              </a:solidFill>
            </a:endParaRPr>
          </a:p>
        </p:txBody>
      </p:sp>
      <p:pic>
        <p:nvPicPr>
          <p:cNvPr id="4" name="Рисунок 3"/>
          <p:cNvPicPr/>
          <p:nvPr/>
        </p:nvPicPr>
        <p:blipFill rotWithShape="1">
          <a:blip r:embed="rId1"/>
          <a:srcRect t="2244" r="3441" b="3804"/>
          <a:stretch>
            <a:fillRect/>
          </a:stretch>
        </p:blipFill>
        <p:spPr>
          <a:xfrm>
            <a:off x="51232" y="876300"/>
            <a:ext cx="5345113" cy="4546600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0" y="5444629"/>
            <a:ext cx="5940425" cy="3683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 smtClean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ДВИ</a:t>
            </a:r>
            <a:endParaRPr lang="ru-RU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Рисунок 5"/>
          <p:cNvPicPr/>
          <p:nvPr/>
        </p:nvPicPr>
        <p:blipFill rotWithShape="1">
          <a:blip r:embed="rId2"/>
          <a:srcRect l="16201" t="-510" r="18689" b="510"/>
          <a:stretch>
            <a:fillRect/>
          </a:stretch>
        </p:blipFill>
        <p:spPr>
          <a:xfrm>
            <a:off x="10688619" y="835561"/>
            <a:ext cx="1371600" cy="4978400"/>
          </a:xfrm>
          <a:prstGeom prst="rect">
            <a:avLst/>
          </a:prstGeom>
        </p:spPr>
      </p:pic>
      <p:sp>
        <p:nvSpPr>
          <p:cNvPr id="7" name="Прямоугольник 6"/>
          <p:cNvSpPr/>
          <p:nvPr/>
        </p:nvSpPr>
        <p:spPr>
          <a:xfrm>
            <a:off x="10843878" y="5813961"/>
            <a:ext cx="1045210" cy="64516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dirty="0" smtClean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Древо</a:t>
            </a:r>
            <a:br>
              <a:rPr lang="ru-RU" dirty="0" smtClean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ru-RU" dirty="0" smtClean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Функций</a:t>
            </a:r>
            <a:endParaRPr lang="ru-RU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8" name="Рисунок 7"/>
          <p:cNvPicPr/>
          <p:nvPr/>
        </p:nvPicPr>
        <p:blipFill>
          <a:blip r:embed="rId3"/>
          <a:stretch>
            <a:fillRect/>
          </a:stretch>
        </p:blipFill>
        <p:spPr>
          <a:xfrm>
            <a:off x="5477540" y="2145414"/>
            <a:ext cx="5129885" cy="2007568"/>
          </a:xfrm>
          <a:prstGeom prst="rect">
            <a:avLst/>
          </a:prstGeom>
        </p:spPr>
      </p:pic>
      <p:sp>
        <p:nvSpPr>
          <p:cNvPr id="9" name="Прямоугольник 8"/>
          <p:cNvSpPr/>
          <p:nvPr/>
        </p:nvSpPr>
        <p:spPr>
          <a:xfrm>
            <a:off x="4994482" y="4174711"/>
            <a:ext cx="6096000" cy="368300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ru-RU" dirty="0" smtClean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Органиограмма</a:t>
            </a:r>
            <a:endParaRPr lang="ru-RU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Текстовое поле 9">
            <a:hlinkClick r:id="rId4" action="ppaction://hlinksldjump"/>
          </p:cNvPr>
          <p:cNvSpPr txBox="1"/>
          <p:nvPr/>
        </p:nvSpPr>
        <p:spPr>
          <a:xfrm>
            <a:off x="10215880" y="208280"/>
            <a:ext cx="1758315" cy="4298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ru-RU" altLang="en-US" sz="2200" dirty="0" smtClean="0">
                <a:solidFill>
                  <a:schemeClr val="bg1"/>
                </a:solidFill>
                <a:effectLst/>
                <a:latin typeface="quote-cjk-patch"/>
                <a:sym typeface="+mn-ea"/>
              </a:rPr>
              <a:t>Оглавление</a:t>
            </a:r>
            <a:endParaRPr lang="ru-RU" altLang="en-US" sz="2200" dirty="0" smtClean="0">
              <a:solidFill>
                <a:schemeClr val="bg1"/>
              </a:solidFill>
              <a:effectLst/>
              <a:latin typeface="quote-cjk-patch"/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070C0"/>
            </a:gs>
            <a:gs pos="100000">
              <a:srgbClr val="00B0F0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0" y="1"/>
            <a:ext cx="10792691" cy="876299"/>
          </a:xfrm>
        </p:spPr>
        <p:txBody>
          <a:bodyPr>
            <a:normAutofit/>
          </a:bodyPr>
          <a:lstStyle/>
          <a:p>
            <a:pPr algn="l"/>
            <a:r>
              <a:rPr lang="ru-RU" sz="4000" dirty="0" smtClean="0">
                <a:solidFill>
                  <a:schemeClr val="bg1"/>
                </a:solidFill>
              </a:rPr>
              <a:t>Функциональный анализ №2</a:t>
            </a:r>
            <a:endParaRPr lang="ru-RU" sz="4000" dirty="0">
              <a:solidFill>
                <a:schemeClr val="bg1"/>
              </a:solidFill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519703" y="788258"/>
            <a:ext cx="975328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  <a:latin typeface="quote-cjk-patch"/>
              </a:rPr>
              <a:t>Таблица входных данных</a:t>
            </a:r>
            <a:endParaRPr lang="ru-RU" dirty="0">
              <a:solidFill>
                <a:schemeClr val="bg1"/>
              </a:solidFill>
              <a:latin typeface="quote-cjk-patch"/>
            </a:endParaRPr>
          </a:p>
        </p:txBody>
      </p:sp>
      <p:sp>
        <p:nvSpPr>
          <p:cNvPr id="9" name="Прямоугольник 8"/>
          <p:cNvSpPr/>
          <p:nvPr/>
        </p:nvSpPr>
        <p:spPr>
          <a:xfrm>
            <a:off x="519703" y="4296291"/>
            <a:ext cx="975328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  <a:latin typeface="quote-cjk-patch"/>
              </a:rPr>
              <a:t>Таблица выходных данных</a:t>
            </a:r>
            <a:endParaRPr lang="ru-RU" dirty="0">
              <a:solidFill>
                <a:schemeClr val="bg1"/>
              </a:solidFill>
              <a:latin typeface="quote-cjk-patch"/>
            </a:endParaRPr>
          </a:p>
        </p:txBody>
      </p:sp>
      <p:graphicFrame>
        <p:nvGraphicFramePr>
          <p:cNvPr id="11" name="Таблица 10"/>
          <p:cNvGraphicFramePr>
            <a:graphicFrameLocks noGrp="1"/>
          </p:cNvGraphicFramePr>
          <p:nvPr/>
        </p:nvGraphicFramePr>
        <p:xfrm>
          <a:off x="519703" y="4762247"/>
          <a:ext cx="9753284" cy="195605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04483"/>
                <a:gridCol w="2324100"/>
                <a:gridCol w="3671828"/>
                <a:gridCol w="1773941"/>
                <a:gridCol w="1678932"/>
              </a:tblGrid>
              <a:tr h="27943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400" kern="0">
                          <a:effectLst/>
                        </a:rPr>
                        <a:t>№</a:t>
                      </a:r>
                      <a:endParaRPr lang="ru-RU" sz="14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400" kern="0" dirty="0" err="1">
                          <a:effectLst/>
                        </a:rPr>
                        <a:t>Функция</a:t>
                      </a:r>
                      <a:endParaRPr lang="ru-RU" sz="14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400" kern="0">
                          <a:effectLst/>
                        </a:rPr>
                        <a:t>Данные</a:t>
                      </a:r>
                      <a:endParaRPr lang="ru-RU" sz="14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400" kern="0">
                          <a:effectLst/>
                        </a:rPr>
                        <a:t>Документ</a:t>
                      </a:r>
                      <a:endParaRPr lang="ru-RU" sz="14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400" kern="0">
                          <a:effectLst/>
                        </a:rPr>
                        <a:t>Описание</a:t>
                      </a:r>
                      <a:endParaRPr lang="ru-RU" sz="14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838308">
                <a:tc row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400" kern="0" dirty="0">
                          <a:effectLst/>
                        </a:rPr>
                        <a:t>1</a:t>
                      </a:r>
                      <a:endParaRPr lang="ru-RU" sz="14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 row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400" kern="0" dirty="0">
                          <a:effectLst/>
                        </a:rPr>
                        <a:t>Формирование листа записей</a:t>
                      </a:r>
                      <a:endParaRPr lang="ru-RU" sz="14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400" kern="100" dirty="0">
                          <a:effectLst/>
                        </a:rPr>
                        <a:t>Выбранное направление</a:t>
                      </a:r>
                      <a:endParaRPr lang="ru-RU" sz="14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400" kern="0">
                          <a:effectLst/>
                        </a:rPr>
                        <a:t>Бланк направлений (заполненный)</a:t>
                      </a:r>
                      <a:endParaRPr lang="ru-RU" sz="14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400" kern="0">
                          <a:effectLst/>
                        </a:rPr>
                        <a:t>Бланк направлений заполненный студентом </a:t>
                      </a:r>
                      <a:endParaRPr lang="ru-RU" sz="14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838308"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400" kern="100" dirty="0">
                          <a:effectLst/>
                        </a:rPr>
                        <a:t>Данные студента (ФИО, группа)</a:t>
                      </a:r>
                      <a:endParaRPr lang="ru-RU" sz="14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400" kern="0">
                          <a:effectLst/>
                        </a:rPr>
                        <a:t>Бланк направлений (заполненный)</a:t>
                      </a:r>
                      <a:endParaRPr lang="ru-RU" sz="14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400" kern="0" dirty="0">
                          <a:effectLst/>
                        </a:rPr>
                        <a:t>Бланк направлений заполненный студентом</a:t>
                      </a:r>
                      <a:endParaRPr lang="ru-RU" sz="14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</a:tbl>
          </a:graphicData>
        </a:graphic>
      </p:graphicFrame>
      <p:graphicFrame>
        <p:nvGraphicFramePr>
          <p:cNvPr id="12" name="Таблица 11"/>
          <p:cNvGraphicFramePr>
            <a:graphicFrameLocks noGrp="1"/>
          </p:cNvGraphicFramePr>
          <p:nvPr/>
        </p:nvGraphicFramePr>
        <p:xfrm>
          <a:off x="519703" y="1157590"/>
          <a:ext cx="9753285" cy="313221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449010"/>
                <a:gridCol w="1728516"/>
                <a:gridCol w="2315249"/>
                <a:gridCol w="1789976"/>
                <a:gridCol w="3470534"/>
              </a:tblGrid>
              <a:tr h="21923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400" kern="0">
                          <a:effectLst/>
                        </a:rPr>
                        <a:t>№</a:t>
                      </a:r>
                      <a:endParaRPr lang="ru-RU" sz="14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400" kern="0">
                          <a:effectLst/>
                        </a:rPr>
                        <a:t>Функция</a:t>
                      </a:r>
                      <a:endParaRPr lang="ru-RU" sz="14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400" kern="0" dirty="0" err="1">
                          <a:effectLst/>
                        </a:rPr>
                        <a:t>Данные</a:t>
                      </a:r>
                      <a:endParaRPr lang="ru-RU" sz="14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400" kern="0">
                          <a:effectLst/>
                        </a:rPr>
                        <a:t>Документ</a:t>
                      </a:r>
                      <a:endParaRPr lang="ru-RU" sz="14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400" kern="0">
                          <a:effectLst/>
                        </a:rPr>
                        <a:t>Описание</a:t>
                      </a:r>
                      <a:endParaRPr lang="ru-RU" sz="14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127845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400" kern="0">
                          <a:effectLst/>
                        </a:rPr>
                        <a:t>1</a:t>
                      </a:r>
                      <a:endParaRPr lang="ru-RU" sz="14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400" kern="0">
                          <a:effectLst/>
                        </a:rPr>
                        <a:t>Предоставление бланков направлений</a:t>
                      </a:r>
                      <a:endParaRPr lang="ru-RU" sz="14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400" kern="100">
                          <a:effectLst/>
                        </a:rPr>
                        <a:t>Список направлений</a:t>
                      </a:r>
                      <a:endParaRPr lang="ru-RU" sz="1400" kern="100">
                        <a:effectLst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400" kern="100">
                          <a:effectLst/>
                        </a:rPr>
                        <a:t> </a:t>
                      </a:r>
                      <a:endParaRPr lang="ru-RU" sz="14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400" kern="100">
                          <a:effectLst/>
                        </a:rPr>
                        <a:t>Бланк научных направлений</a:t>
                      </a:r>
                      <a:endParaRPr lang="ru-RU" sz="1400" kern="100">
                        <a:effectLst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400" kern="100">
                          <a:effectLst/>
                        </a:rPr>
                        <a:t> </a:t>
                      </a:r>
                      <a:endParaRPr lang="ru-RU" sz="14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400" kern="100" dirty="0">
                          <a:effectLst/>
                        </a:rPr>
                        <a:t>Документ, содержащий список актуальных научных направлений</a:t>
                      </a:r>
                      <a:endParaRPr lang="ru-RU" sz="1400" kern="100" dirty="0">
                        <a:effectLst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400" kern="100" dirty="0">
                          <a:effectLst/>
                        </a:rPr>
                        <a:t> </a:t>
                      </a:r>
                      <a:endParaRPr lang="ru-RU" sz="14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921481">
                <a:tc row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400" kern="0">
                          <a:effectLst/>
                        </a:rPr>
                        <a:t>2</a:t>
                      </a:r>
                      <a:endParaRPr lang="ru-RU" sz="14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 row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400" kern="100">
                          <a:effectLst/>
                        </a:rPr>
                        <a:t>Информирование об ограничениях</a:t>
                      </a:r>
                      <a:endParaRPr lang="ru-RU" sz="14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400" kern="0">
                          <a:effectLst/>
                        </a:rPr>
                        <a:t>Максимальное количество студентов на направление</a:t>
                      </a:r>
                      <a:endParaRPr lang="ru-RU" sz="14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400" kern="0">
                          <a:effectLst/>
                        </a:rPr>
                        <a:t>Ограничения</a:t>
                      </a:r>
                      <a:endParaRPr lang="ru-RU" sz="14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400" kern="0">
                          <a:effectLst/>
                        </a:rPr>
                        <a:t>Для определения максимального количества возможных записей на 1 направление</a:t>
                      </a:r>
                      <a:endParaRPr lang="ru-RU" sz="1400" kern="100">
                        <a:effectLst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400" kern="100">
                          <a:effectLst/>
                        </a:rPr>
                        <a:t> </a:t>
                      </a:r>
                      <a:endParaRPr lang="ru-RU" sz="14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626932"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400" kern="0">
                          <a:effectLst/>
                        </a:rPr>
                        <a:t>Минимальное количество студентов на направление</a:t>
                      </a:r>
                      <a:endParaRPr lang="ru-RU" sz="14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400" kern="0">
                          <a:effectLst/>
                        </a:rPr>
                        <a:t>Ограничения</a:t>
                      </a:r>
                      <a:endParaRPr lang="ru-RU" sz="1400" kern="100">
                        <a:effectLst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400" kern="0">
                          <a:effectLst/>
                        </a:rPr>
                        <a:t> </a:t>
                      </a:r>
                      <a:endParaRPr lang="ru-RU" sz="14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400" kern="0" dirty="0">
                          <a:effectLst/>
                        </a:rPr>
                        <a:t>Для определения минимального количества записей на 1 направление</a:t>
                      </a:r>
                      <a:endParaRPr lang="ru-RU" sz="14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</a:tbl>
          </a:graphicData>
        </a:graphic>
      </p:graphicFrame>
      <p:sp>
        <p:nvSpPr>
          <p:cNvPr id="3" name="Текстовое поле 2">
            <a:hlinkClick r:id="rId1" action="ppaction://hlinksldjump"/>
          </p:cNvPr>
          <p:cNvSpPr txBox="1"/>
          <p:nvPr/>
        </p:nvSpPr>
        <p:spPr>
          <a:xfrm>
            <a:off x="10215880" y="208280"/>
            <a:ext cx="1758315" cy="4298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ru-RU" altLang="en-US" sz="2200" dirty="0" smtClean="0">
                <a:solidFill>
                  <a:schemeClr val="bg1"/>
                </a:solidFill>
                <a:effectLst/>
                <a:latin typeface="quote-cjk-patch"/>
                <a:sym typeface="+mn-ea"/>
              </a:rPr>
              <a:t>Оглавление</a:t>
            </a:r>
            <a:endParaRPr lang="ru-RU" altLang="en-US" sz="2200" dirty="0" smtClean="0">
              <a:solidFill>
                <a:schemeClr val="bg1"/>
              </a:solidFill>
              <a:effectLst/>
              <a:latin typeface="quote-cjk-patch"/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070C0"/>
            </a:gs>
            <a:gs pos="100000">
              <a:srgbClr val="00B0F0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0" y="1"/>
            <a:ext cx="12192000" cy="876299"/>
          </a:xfrm>
        </p:spPr>
        <p:txBody>
          <a:bodyPr>
            <a:normAutofit fontScale="90000"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UML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9" name="Прямоугольник 8"/>
          <p:cNvSpPr/>
          <p:nvPr/>
        </p:nvSpPr>
        <p:spPr>
          <a:xfrm>
            <a:off x="3125787" y="6407653"/>
            <a:ext cx="594042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 smtClean="0">
                <a:solidFill>
                  <a:schemeClr val="bg1"/>
                </a:solidFill>
                <a:latin typeface="quote-cjk-patch"/>
              </a:rPr>
              <a:t>Рис. №4 «Диаграмма бизнес процесса»</a:t>
            </a:r>
            <a:endParaRPr lang="ru-RU" dirty="0">
              <a:solidFill>
                <a:schemeClr val="bg1"/>
              </a:solidFill>
              <a:latin typeface="quote-cjk-patch"/>
            </a:endParaRPr>
          </a:p>
        </p:txBody>
      </p:sp>
      <p:pic>
        <p:nvPicPr>
          <p:cNvPr id="8" name="Рисунок 7"/>
          <p:cNvPicPr/>
          <p:nvPr/>
        </p:nvPicPr>
        <p:blipFill>
          <a:blip r:embed="rId1"/>
          <a:stretch>
            <a:fillRect/>
          </a:stretch>
        </p:blipFill>
        <p:spPr>
          <a:xfrm>
            <a:off x="3081019" y="745358"/>
            <a:ext cx="6029960" cy="5662295"/>
          </a:xfrm>
          <a:prstGeom prst="rect">
            <a:avLst/>
          </a:prstGeom>
        </p:spPr>
      </p:pic>
      <p:sp>
        <p:nvSpPr>
          <p:cNvPr id="5" name="Текстовое поле 4">
            <a:hlinkClick r:id="rId2" action="ppaction://hlinksldjump"/>
          </p:cNvPr>
          <p:cNvSpPr txBox="1"/>
          <p:nvPr/>
        </p:nvSpPr>
        <p:spPr>
          <a:xfrm>
            <a:off x="10215880" y="208280"/>
            <a:ext cx="1758315" cy="4298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ru-RU" altLang="en-US" sz="2200" dirty="0" smtClean="0">
                <a:solidFill>
                  <a:schemeClr val="bg1"/>
                </a:solidFill>
                <a:effectLst/>
                <a:latin typeface="quote-cjk-patch"/>
                <a:sym typeface="+mn-ea"/>
              </a:rPr>
              <a:t>Оглавление</a:t>
            </a:r>
            <a:endParaRPr lang="ru-RU" altLang="en-US" sz="2200" dirty="0" smtClean="0">
              <a:solidFill>
                <a:schemeClr val="bg1"/>
              </a:solidFill>
              <a:effectLst/>
              <a:latin typeface="quote-cjk-patch"/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070C0"/>
            </a:gs>
            <a:gs pos="100000">
              <a:srgbClr val="00B0F0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0" y="1"/>
            <a:ext cx="12192000" cy="876299"/>
          </a:xfrm>
        </p:spPr>
        <p:txBody>
          <a:bodyPr>
            <a:normAutofit fontScale="90000"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ER-</a:t>
            </a:r>
            <a:r>
              <a:rPr lang="ru-RU" dirty="0" smtClean="0">
                <a:solidFill>
                  <a:schemeClr val="bg1"/>
                </a:solidFill>
              </a:rPr>
              <a:t>Модель БД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9" name="Прямоугольник 8"/>
          <p:cNvSpPr/>
          <p:nvPr/>
        </p:nvSpPr>
        <p:spPr>
          <a:xfrm>
            <a:off x="3074988" y="5562083"/>
            <a:ext cx="656431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 smtClean="0">
                <a:solidFill>
                  <a:schemeClr val="bg1"/>
                </a:solidFill>
                <a:latin typeface="quote-cjk-patch"/>
              </a:rPr>
              <a:t>Рис. №5 «</a:t>
            </a:r>
            <a:r>
              <a:rPr lang="en-US" dirty="0" smtClean="0">
                <a:solidFill>
                  <a:schemeClr val="bg1"/>
                </a:solidFill>
                <a:latin typeface="quote-cjk-patch"/>
              </a:rPr>
              <a:t>ER-</a:t>
            </a:r>
            <a:r>
              <a:rPr lang="ru-RU" dirty="0" smtClean="0">
                <a:solidFill>
                  <a:schemeClr val="bg1"/>
                </a:solidFill>
                <a:latin typeface="quote-cjk-patch"/>
              </a:rPr>
              <a:t>модель БД»</a:t>
            </a:r>
            <a:endParaRPr lang="ru-RU" dirty="0">
              <a:solidFill>
                <a:schemeClr val="bg1"/>
              </a:solidFill>
              <a:latin typeface="quote-cjk-patch"/>
            </a:endParaRPr>
          </a:p>
        </p:txBody>
      </p:sp>
      <p:pic>
        <p:nvPicPr>
          <p:cNvPr id="5" name="Рисунок 4"/>
          <p:cNvPicPr/>
          <p:nvPr/>
        </p:nvPicPr>
        <p:blipFill>
          <a:blip r:embed="rId1"/>
          <a:stretch>
            <a:fillRect/>
          </a:stretch>
        </p:blipFill>
        <p:spPr>
          <a:xfrm>
            <a:off x="3074987" y="1139507"/>
            <a:ext cx="6564313" cy="4344035"/>
          </a:xfrm>
          <a:prstGeom prst="rect">
            <a:avLst/>
          </a:prstGeom>
        </p:spPr>
      </p:pic>
      <p:sp>
        <p:nvSpPr>
          <p:cNvPr id="3" name="Текстовое поле 2">
            <a:hlinkClick r:id="rId2" action="ppaction://hlinksldjump"/>
          </p:cNvPr>
          <p:cNvSpPr txBox="1"/>
          <p:nvPr/>
        </p:nvSpPr>
        <p:spPr>
          <a:xfrm>
            <a:off x="10215880" y="208280"/>
            <a:ext cx="1758315" cy="4298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ru-RU" altLang="en-US" sz="2200" dirty="0" smtClean="0">
                <a:solidFill>
                  <a:schemeClr val="bg1"/>
                </a:solidFill>
                <a:effectLst/>
                <a:latin typeface="quote-cjk-patch"/>
                <a:sym typeface="+mn-ea"/>
              </a:rPr>
              <a:t>Оглавление</a:t>
            </a:r>
            <a:endParaRPr lang="ru-RU" altLang="en-US" sz="2200" dirty="0" smtClean="0">
              <a:solidFill>
                <a:schemeClr val="bg1"/>
              </a:solidFill>
              <a:effectLst/>
              <a:latin typeface="quote-cjk-patch"/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070C0"/>
            </a:gs>
            <a:gs pos="100000">
              <a:srgbClr val="00B0F0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0" y="98899"/>
            <a:ext cx="12192000" cy="876299"/>
          </a:xfrm>
        </p:spPr>
        <p:txBody>
          <a:bodyPr>
            <a:normAutofit fontScale="90000"/>
          </a:bodyPr>
          <a:lstStyle/>
          <a:p>
            <a:pPr algn="l"/>
            <a:r>
              <a:rPr lang="ru-RU" dirty="0" smtClean="0">
                <a:solidFill>
                  <a:schemeClr val="bg1"/>
                </a:solidFill>
              </a:rPr>
              <a:t>Примеры запросов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9" name="Прямоугольник 8"/>
          <p:cNvSpPr/>
          <p:nvPr/>
        </p:nvSpPr>
        <p:spPr>
          <a:xfrm>
            <a:off x="-1205727" y="3953581"/>
            <a:ext cx="6564312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 smtClean="0">
                <a:solidFill>
                  <a:schemeClr val="bg1"/>
                </a:solidFill>
                <a:latin typeface="quote-cjk-patch"/>
              </a:rPr>
              <a:t>Вывод количества студентов</a:t>
            </a:r>
            <a:br>
              <a:rPr lang="ru-RU" dirty="0" smtClean="0">
                <a:solidFill>
                  <a:schemeClr val="bg1"/>
                </a:solidFill>
                <a:latin typeface="quote-cjk-patch"/>
              </a:rPr>
            </a:br>
            <a:r>
              <a:rPr lang="ru-RU" dirty="0" smtClean="0">
                <a:solidFill>
                  <a:schemeClr val="bg1"/>
                </a:solidFill>
                <a:latin typeface="quote-cjk-patch"/>
              </a:rPr>
              <a:t> на каждом курсе</a:t>
            </a:r>
            <a:endParaRPr lang="ru-RU" dirty="0">
              <a:solidFill>
                <a:schemeClr val="bg1"/>
              </a:solidFill>
              <a:latin typeface="quote-cjk-patch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0" y="1225034"/>
            <a:ext cx="207642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b="1" dirty="0" smtClean="0">
                <a:solidFill>
                  <a:schemeClr val="bg1"/>
                </a:solidFill>
                <a:latin typeface="quote-cjk-patch"/>
              </a:rPr>
              <a:t>Группировка</a:t>
            </a:r>
            <a:endParaRPr lang="ru-RU" b="1" dirty="0">
              <a:solidFill>
                <a:schemeClr val="bg1"/>
              </a:solidFill>
              <a:latin typeface="quote-cjk-patch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-565727" y="1594366"/>
            <a:ext cx="4076700" cy="24636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78815">
              <a:lnSpc>
                <a:spcPct val="115000"/>
              </a:lnSpc>
              <a:spcAft>
                <a:spcPts val="0"/>
              </a:spcAft>
            </a:pPr>
            <a:r>
              <a:rPr lang="ru-RU" sz="1500" i="1" kern="100" dirty="0" err="1">
                <a:solidFill>
                  <a:srgbClr val="00FF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use</a:t>
            </a:r>
            <a:r>
              <a:rPr lang="ru-RU" sz="1500" i="1" kern="100" dirty="0">
                <a:solidFill>
                  <a:srgbClr val="00FF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500" i="1" kern="100" dirty="0" err="1">
                <a:solidFill>
                  <a:srgbClr val="00FF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monitoringsystem</a:t>
            </a:r>
            <a:r>
              <a:rPr lang="ru-RU" sz="1500" i="1" kern="100" dirty="0">
                <a:solidFill>
                  <a:srgbClr val="00FF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500" i="1" kern="100" dirty="0" smtClean="0">
              <a:solidFill>
                <a:srgbClr val="00FFFF"/>
              </a:solidFill>
              <a:effectLst/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678815">
              <a:lnSpc>
                <a:spcPct val="115000"/>
              </a:lnSpc>
              <a:spcAft>
                <a:spcPts val="0"/>
              </a:spcAft>
            </a:pPr>
            <a:r>
              <a:rPr lang="ru-RU" sz="1500" i="1" kern="100" dirty="0">
                <a:solidFill>
                  <a:srgbClr val="00FF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SELECT </a:t>
            </a:r>
            <a:endParaRPr lang="ru-RU" sz="1500" i="1" kern="100" dirty="0" smtClean="0">
              <a:solidFill>
                <a:srgbClr val="00FFFF"/>
              </a:solidFill>
              <a:effectLst/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678815">
              <a:lnSpc>
                <a:spcPct val="115000"/>
              </a:lnSpc>
              <a:spcAft>
                <a:spcPts val="0"/>
              </a:spcAft>
            </a:pPr>
            <a:r>
              <a:rPr lang="en-US" sz="1500" i="1" kern="100" dirty="0">
                <a:solidFill>
                  <a:srgbClr val="00FF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</a:t>
            </a:r>
            <a:r>
              <a:rPr lang="en-US" sz="1500" i="1" kern="100" dirty="0" err="1">
                <a:solidFill>
                  <a:srgbClr val="00FF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c.course_number</a:t>
            </a:r>
            <a:r>
              <a:rPr lang="en-US" sz="1500" i="1" kern="100" dirty="0">
                <a:solidFill>
                  <a:srgbClr val="00FF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AS '</a:t>
            </a:r>
            <a:r>
              <a:rPr lang="ru-RU" sz="1500" i="1" kern="100" dirty="0">
                <a:solidFill>
                  <a:srgbClr val="00FF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Курс</a:t>
            </a:r>
            <a:r>
              <a:rPr lang="en-US" sz="1500" i="1" kern="100" dirty="0">
                <a:solidFill>
                  <a:srgbClr val="00FF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',</a:t>
            </a:r>
            <a:endParaRPr lang="ru-RU" sz="1500" i="1" kern="100" dirty="0" smtClean="0">
              <a:solidFill>
                <a:srgbClr val="00FFFF"/>
              </a:solidFill>
              <a:effectLst/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678815">
              <a:lnSpc>
                <a:spcPct val="115000"/>
              </a:lnSpc>
              <a:spcAft>
                <a:spcPts val="0"/>
              </a:spcAft>
            </a:pPr>
            <a:r>
              <a:rPr lang="en-US" sz="1500" i="1" kern="100" dirty="0">
                <a:solidFill>
                  <a:srgbClr val="00FF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</a:t>
            </a:r>
            <a:r>
              <a:rPr lang="ru-RU" sz="1500" i="1" kern="100" dirty="0">
                <a:solidFill>
                  <a:srgbClr val="00FF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COUNT(s.id) AS 'Количество студентов'</a:t>
            </a:r>
            <a:endParaRPr lang="ru-RU" sz="1500" i="1" kern="100" dirty="0" smtClean="0">
              <a:solidFill>
                <a:srgbClr val="00FFFF"/>
              </a:solidFill>
              <a:effectLst/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678815">
              <a:lnSpc>
                <a:spcPct val="115000"/>
              </a:lnSpc>
              <a:spcAft>
                <a:spcPts val="0"/>
              </a:spcAft>
            </a:pPr>
            <a:r>
              <a:rPr lang="en-US" sz="1500" i="1" kern="100" dirty="0">
                <a:solidFill>
                  <a:srgbClr val="00FF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FROM Student s</a:t>
            </a:r>
            <a:endParaRPr lang="ru-RU" sz="1500" i="1" kern="100" dirty="0" smtClean="0">
              <a:solidFill>
                <a:srgbClr val="00FFFF"/>
              </a:solidFill>
              <a:effectLst/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678815">
              <a:lnSpc>
                <a:spcPct val="115000"/>
              </a:lnSpc>
              <a:spcAft>
                <a:spcPts val="0"/>
              </a:spcAft>
            </a:pPr>
            <a:r>
              <a:rPr lang="en-US" sz="1500" i="1" kern="100" dirty="0">
                <a:solidFill>
                  <a:srgbClr val="00FF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JOIN Course c ON </a:t>
            </a:r>
            <a:r>
              <a:rPr lang="en-US" sz="1500" i="1" kern="100" dirty="0" err="1">
                <a:solidFill>
                  <a:srgbClr val="00FF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s.course_id</a:t>
            </a:r>
            <a:r>
              <a:rPr lang="en-US" sz="1500" i="1" kern="100" dirty="0">
                <a:solidFill>
                  <a:srgbClr val="00FF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c.id</a:t>
            </a:r>
            <a:endParaRPr lang="ru-RU" sz="1500" i="1" kern="100" dirty="0" smtClean="0">
              <a:solidFill>
                <a:srgbClr val="00FFFF"/>
              </a:solidFill>
              <a:effectLst/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678815">
              <a:lnSpc>
                <a:spcPct val="115000"/>
              </a:lnSpc>
              <a:spcAft>
                <a:spcPts val="0"/>
              </a:spcAft>
            </a:pPr>
            <a:r>
              <a:rPr lang="en-US" sz="1500" i="1" kern="100" dirty="0">
                <a:solidFill>
                  <a:srgbClr val="00FF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GROUP BY </a:t>
            </a:r>
            <a:r>
              <a:rPr lang="en-US" sz="1500" i="1" kern="100" dirty="0" err="1">
                <a:solidFill>
                  <a:srgbClr val="00FF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c.course_number</a:t>
            </a:r>
            <a:r>
              <a:rPr lang="en-US" sz="1500" i="1" kern="100" dirty="0">
                <a:solidFill>
                  <a:srgbClr val="00FF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500" i="1" kern="100" dirty="0">
              <a:solidFill>
                <a:srgbClr val="00FFFF"/>
              </a:solidFill>
              <a:effectLst/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7" name="Рисунок 6"/>
          <p:cNvPicPr/>
          <p:nvPr/>
        </p:nvPicPr>
        <p:blipFill>
          <a:blip r:embed="rId1"/>
          <a:stretch>
            <a:fillRect/>
          </a:stretch>
        </p:blipFill>
        <p:spPr>
          <a:xfrm>
            <a:off x="1038214" y="4577317"/>
            <a:ext cx="2000250" cy="2114550"/>
          </a:xfrm>
          <a:prstGeom prst="rect">
            <a:avLst/>
          </a:prstGeom>
        </p:spPr>
      </p:pic>
      <p:sp>
        <p:nvSpPr>
          <p:cNvPr id="12" name="Прямоугольник 11"/>
          <p:cNvSpPr/>
          <p:nvPr/>
        </p:nvSpPr>
        <p:spPr>
          <a:xfrm>
            <a:off x="2630312" y="4208244"/>
            <a:ext cx="6564312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 smtClean="0">
                <a:solidFill>
                  <a:schemeClr val="bg1"/>
                </a:solidFill>
                <a:latin typeface="quote-cjk-patch"/>
              </a:rPr>
              <a:t>Вывод всех студентов с </a:t>
            </a:r>
            <a:br>
              <a:rPr lang="ru-RU" dirty="0" smtClean="0">
                <a:solidFill>
                  <a:schemeClr val="bg1"/>
                </a:solidFill>
                <a:latin typeface="quote-cjk-patch"/>
              </a:rPr>
            </a:br>
            <a:r>
              <a:rPr lang="ru-RU" dirty="0" smtClean="0">
                <a:solidFill>
                  <a:schemeClr val="bg1"/>
                </a:solidFill>
                <a:latin typeface="quote-cjk-patch"/>
              </a:rPr>
              <a:t>прикладным направлением</a:t>
            </a:r>
            <a:endParaRPr lang="ru-RU" dirty="0">
              <a:solidFill>
                <a:schemeClr val="bg1"/>
              </a:solidFill>
              <a:latin typeface="quote-cjk-patch"/>
            </a:endParaRPr>
          </a:p>
        </p:txBody>
      </p:sp>
      <p:sp>
        <p:nvSpPr>
          <p:cNvPr id="13" name="Прямоугольник 12"/>
          <p:cNvSpPr/>
          <p:nvPr/>
        </p:nvSpPr>
        <p:spPr>
          <a:xfrm>
            <a:off x="3874118" y="1593110"/>
            <a:ext cx="4076700" cy="26314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500" i="1" dirty="0">
                <a:solidFill>
                  <a:srgbClr val="00FFFF"/>
                </a:solidFill>
                <a:latin typeface="Consolas" panose="020B0609020204030204" pitchFamily="49" charset="0"/>
              </a:rPr>
              <a:t>use </a:t>
            </a:r>
            <a:r>
              <a:rPr lang="en-US" sz="1500" i="1" dirty="0" err="1">
                <a:solidFill>
                  <a:srgbClr val="00FFFF"/>
                </a:solidFill>
                <a:latin typeface="Consolas" panose="020B0609020204030204" pitchFamily="49" charset="0"/>
              </a:rPr>
              <a:t>monitoringsystem</a:t>
            </a:r>
            <a:r>
              <a:rPr lang="en-US" sz="1500" i="1" dirty="0">
                <a:solidFill>
                  <a:srgbClr val="00FFFF"/>
                </a:solidFill>
                <a:latin typeface="Consolas" panose="020B0609020204030204" pitchFamily="49" charset="0"/>
              </a:rPr>
              <a:t>;</a:t>
            </a:r>
            <a:endParaRPr lang="ru-RU" sz="1500" i="1" dirty="0">
              <a:solidFill>
                <a:srgbClr val="00FFFF"/>
              </a:solidFill>
              <a:latin typeface="Consolas" panose="020B0609020204030204" pitchFamily="49" charset="0"/>
            </a:endParaRPr>
          </a:p>
          <a:p>
            <a:r>
              <a:rPr lang="en-US" sz="1500" i="1" dirty="0">
                <a:solidFill>
                  <a:srgbClr val="00FFFF"/>
                </a:solidFill>
                <a:latin typeface="Consolas" panose="020B0609020204030204" pitchFamily="49" charset="0"/>
              </a:rPr>
              <a:t>SELECT </a:t>
            </a:r>
            <a:r>
              <a:rPr lang="en-US" sz="1500" i="1" dirty="0" err="1">
                <a:solidFill>
                  <a:srgbClr val="00FFFF"/>
                </a:solidFill>
                <a:latin typeface="Consolas" panose="020B0609020204030204" pitchFamily="49" charset="0"/>
              </a:rPr>
              <a:t>full_name</a:t>
            </a:r>
            <a:r>
              <a:rPr lang="en-US" sz="1500" i="1" dirty="0">
                <a:solidFill>
                  <a:srgbClr val="00FFFF"/>
                </a:solidFill>
                <a:latin typeface="Consolas" panose="020B0609020204030204" pitchFamily="49" charset="0"/>
              </a:rPr>
              <a:t> AS '</a:t>
            </a:r>
            <a:r>
              <a:rPr lang="ru-RU" sz="1500" i="1" dirty="0">
                <a:solidFill>
                  <a:srgbClr val="00FFFF"/>
                </a:solidFill>
                <a:latin typeface="Consolas" panose="020B0609020204030204" pitchFamily="49" charset="0"/>
              </a:rPr>
              <a:t>Студент</a:t>
            </a:r>
            <a:r>
              <a:rPr lang="en-US" sz="1500" i="1" dirty="0">
                <a:solidFill>
                  <a:srgbClr val="00FFFF"/>
                </a:solidFill>
                <a:latin typeface="Consolas" panose="020B0609020204030204" pitchFamily="49" charset="0"/>
              </a:rPr>
              <a:t>'</a:t>
            </a:r>
            <a:endParaRPr lang="ru-RU" sz="1500" i="1" dirty="0">
              <a:solidFill>
                <a:srgbClr val="00FFFF"/>
              </a:solidFill>
              <a:latin typeface="Consolas" panose="020B0609020204030204" pitchFamily="49" charset="0"/>
            </a:endParaRPr>
          </a:p>
          <a:p>
            <a:r>
              <a:rPr lang="en-US" sz="1500" i="1" dirty="0">
                <a:solidFill>
                  <a:srgbClr val="00FFFF"/>
                </a:solidFill>
                <a:latin typeface="Consolas" panose="020B0609020204030204" pitchFamily="49" charset="0"/>
              </a:rPr>
              <a:t>FROM Student</a:t>
            </a:r>
            <a:endParaRPr lang="ru-RU" sz="1500" i="1" dirty="0">
              <a:solidFill>
                <a:srgbClr val="00FFFF"/>
              </a:solidFill>
              <a:latin typeface="Consolas" panose="020B0609020204030204" pitchFamily="49" charset="0"/>
            </a:endParaRPr>
          </a:p>
          <a:p>
            <a:r>
              <a:rPr lang="en-US" sz="1500" i="1" dirty="0">
                <a:solidFill>
                  <a:srgbClr val="00FFFF"/>
                </a:solidFill>
                <a:latin typeface="Consolas" panose="020B0609020204030204" pitchFamily="49" charset="0"/>
              </a:rPr>
              <a:t>WHERE </a:t>
            </a:r>
            <a:r>
              <a:rPr lang="en-US" sz="1500" i="1" dirty="0" err="1">
                <a:solidFill>
                  <a:srgbClr val="00FFFF"/>
                </a:solidFill>
                <a:latin typeface="Consolas" panose="020B0609020204030204" pitchFamily="49" charset="0"/>
              </a:rPr>
              <a:t>research_direction_id</a:t>
            </a:r>
            <a:r>
              <a:rPr lang="en-US" sz="1500" i="1" dirty="0">
                <a:solidFill>
                  <a:srgbClr val="00FFFF"/>
                </a:solidFill>
                <a:latin typeface="Consolas" panose="020B0609020204030204" pitchFamily="49" charset="0"/>
              </a:rPr>
              <a:t> IN (</a:t>
            </a:r>
            <a:endParaRPr lang="ru-RU" sz="1500" i="1" dirty="0">
              <a:solidFill>
                <a:srgbClr val="00FFFF"/>
              </a:solidFill>
              <a:latin typeface="Consolas" panose="020B0609020204030204" pitchFamily="49" charset="0"/>
            </a:endParaRPr>
          </a:p>
          <a:p>
            <a:r>
              <a:rPr lang="en-US" sz="1500" i="1" dirty="0">
                <a:solidFill>
                  <a:srgbClr val="00FFFF"/>
                </a:solidFill>
                <a:latin typeface="Consolas" panose="020B0609020204030204" pitchFamily="49" charset="0"/>
              </a:rPr>
              <a:t>    SELECT id </a:t>
            </a:r>
            <a:endParaRPr lang="ru-RU" sz="1500" i="1" dirty="0">
              <a:solidFill>
                <a:srgbClr val="00FFFF"/>
              </a:solidFill>
              <a:latin typeface="Consolas" panose="020B0609020204030204" pitchFamily="49" charset="0"/>
            </a:endParaRPr>
          </a:p>
          <a:p>
            <a:r>
              <a:rPr lang="en-US" sz="1500" i="1" dirty="0">
                <a:solidFill>
                  <a:srgbClr val="00FFFF"/>
                </a:solidFill>
                <a:latin typeface="Consolas" panose="020B0609020204030204" pitchFamily="49" charset="0"/>
              </a:rPr>
              <a:t>    FROM </a:t>
            </a:r>
            <a:r>
              <a:rPr lang="en-US" sz="1500" i="1" dirty="0" err="1">
                <a:solidFill>
                  <a:srgbClr val="00FFFF"/>
                </a:solidFill>
                <a:latin typeface="Consolas" panose="020B0609020204030204" pitchFamily="49" charset="0"/>
              </a:rPr>
              <a:t>ResearchDirection</a:t>
            </a:r>
            <a:r>
              <a:rPr lang="en-US" sz="1500" i="1" dirty="0">
                <a:solidFill>
                  <a:srgbClr val="00FFFF"/>
                </a:solidFill>
                <a:latin typeface="Consolas" panose="020B0609020204030204" pitchFamily="49" charset="0"/>
              </a:rPr>
              <a:t> </a:t>
            </a:r>
            <a:endParaRPr lang="ru-RU" sz="1500" i="1" dirty="0">
              <a:solidFill>
                <a:srgbClr val="00FFFF"/>
              </a:solidFill>
              <a:latin typeface="Consolas" panose="020B0609020204030204" pitchFamily="49" charset="0"/>
            </a:endParaRPr>
          </a:p>
          <a:p>
            <a:r>
              <a:rPr lang="en-US" sz="1500" i="1" dirty="0">
                <a:solidFill>
                  <a:srgbClr val="00FFFF"/>
                </a:solidFill>
                <a:latin typeface="Consolas" panose="020B0609020204030204" pitchFamily="49" charset="0"/>
              </a:rPr>
              <a:t>    WHERE </a:t>
            </a:r>
            <a:r>
              <a:rPr lang="en-US" sz="1500" i="1" dirty="0" err="1">
                <a:solidFill>
                  <a:srgbClr val="00FFFF"/>
                </a:solidFill>
                <a:latin typeface="Consolas" panose="020B0609020204030204" pitchFamily="49" charset="0"/>
              </a:rPr>
              <a:t>direction_type_id</a:t>
            </a:r>
            <a:r>
              <a:rPr lang="en-US" sz="1500" i="1" dirty="0">
                <a:solidFill>
                  <a:srgbClr val="00FFFF"/>
                </a:solidFill>
                <a:latin typeface="Consolas" panose="020B0609020204030204" pitchFamily="49" charset="0"/>
              </a:rPr>
              <a:t> = (</a:t>
            </a:r>
            <a:endParaRPr lang="ru-RU" sz="1500" i="1" dirty="0">
              <a:solidFill>
                <a:srgbClr val="00FFFF"/>
              </a:solidFill>
              <a:latin typeface="Consolas" panose="020B0609020204030204" pitchFamily="49" charset="0"/>
            </a:endParaRPr>
          </a:p>
          <a:p>
            <a:r>
              <a:rPr lang="en-US" sz="1500" i="1" dirty="0">
                <a:solidFill>
                  <a:srgbClr val="00FFFF"/>
                </a:solidFill>
                <a:latin typeface="Consolas" panose="020B0609020204030204" pitchFamily="49" charset="0"/>
              </a:rPr>
              <a:t>        SELECT id FROM </a:t>
            </a:r>
            <a:r>
              <a:rPr lang="en-US" sz="1500" i="1" dirty="0" err="1">
                <a:solidFill>
                  <a:srgbClr val="00FFFF"/>
                </a:solidFill>
                <a:latin typeface="Consolas" panose="020B0609020204030204" pitchFamily="49" charset="0"/>
              </a:rPr>
              <a:t>DirectionType</a:t>
            </a:r>
            <a:r>
              <a:rPr lang="en-US" sz="1500" i="1" dirty="0">
                <a:solidFill>
                  <a:srgbClr val="00FFFF"/>
                </a:solidFill>
                <a:latin typeface="Consolas" panose="020B0609020204030204" pitchFamily="49" charset="0"/>
              </a:rPr>
              <a:t> WHERE </a:t>
            </a:r>
            <a:r>
              <a:rPr lang="en-US" sz="1500" i="1" dirty="0" err="1">
                <a:solidFill>
                  <a:srgbClr val="00FFFF"/>
                </a:solidFill>
                <a:latin typeface="Consolas" panose="020B0609020204030204" pitchFamily="49" charset="0"/>
              </a:rPr>
              <a:t>type_name</a:t>
            </a:r>
            <a:r>
              <a:rPr lang="en-US" sz="1500" i="1" dirty="0">
                <a:solidFill>
                  <a:srgbClr val="00FFFF"/>
                </a:solidFill>
                <a:latin typeface="Consolas" panose="020B0609020204030204" pitchFamily="49" charset="0"/>
              </a:rPr>
              <a:t> = '</a:t>
            </a:r>
            <a:r>
              <a:rPr lang="ru-RU" sz="1500" i="1" dirty="0">
                <a:solidFill>
                  <a:srgbClr val="00FFFF"/>
                </a:solidFill>
                <a:latin typeface="Consolas" panose="020B0609020204030204" pitchFamily="49" charset="0"/>
              </a:rPr>
              <a:t>Прикладное</a:t>
            </a:r>
            <a:r>
              <a:rPr lang="en-US" sz="1500" i="1" dirty="0">
                <a:solidFill>
                  <a:srgbClr val="00FFFF"/>
                </a:solidFill>
                <a:latin typeface="Consolas" panose="020B0609020204030204" pitchFamily="49" charset="0"/>
              </a:rPr>
              <a:t>'</a:t>
            </a:r>
            <a:endParaRPr lang="ru-RU" sz="1500" i="1" dirty="0">
              <a:solidFill>
                <a:srgbClr val="00FFFF"/>
              </a:solidFill>
              <a:latin typeface="Consolas" panose="020B0609020204030204" pitchFamily="49" charset="0"/>
            </a:endParaRPr>
          </a:p>
          <a:p>
            <a:r>
              <a:rPr lang="en-US" sz="1500" i="1" dirty="0">
                <a:solidFill>
                  <a:srgbClr val="00FFFF"/>
                </a:solidFill>
                <a:latin typeface="Consolas" panose="020B0609020204030204" pitchFamily="49" charset="0"/>
              </a:rPr>
              <a:t>    </a:t>
            </a:r>
            <a:r>
              <a:rPr lang="ru-RU" sz="1500" i="1" dirty="0">
                <a:solidFill>
                  <a:srgbClr val="00FFFF"/>
                </a:solidFill>
                <a:latin typeface="Consolas" panose="020B0609020204030204" pitchFamily="49" charset="0"/>
              </a:rPr>
              <a:t>)</a:t>
            </a:r>
            <a:endParaRPr lang="ru-RU" sz="1500" i="1" dirty="0">
              <a:solidFill>
                <a:srgbClr val="00FFFF"/>
              </a:solidFill>
              <a:latin typeface="Consolas" panose="020B0609020204030204" pitchFamily="49" charset="0"/>
            </a:endParaRPr>
          </a:p>
          <a:p>
            <a:r>
              <a:rPr lang="ru-RU" sz="1500" i="1" dirty="0">
                <a:solidFill>
                  <a:srgbClr val="00FFFF"/>
                </a:solidFill>
                <a:latin typeface="Consolas" panose="020B0609020204030204" pitchFamily="49" charset="0"/>
              </a:rPr>
              <a:t>);</a:t>
            </a:r>
            <a:endParaRPr lang="ru-RU" sz="1500" i="1" dirty="0">
              <a:solidFill>
                <a:srgbClr val="00FFFF"/>
              </a:solidFill>
              <a:latin typeface="Consolas" panose="020B0609020204030204" pitchFamily="49" charset="0"/>
            </a:endParaRPr>
          </a:p>
        </p:txBody>
      </p:sp>
      <p:sp>
        <p:nvSpPr>
          <p:cNvPr id="30" name="Прямоугольник 29"/>
          <p:cNvSpPr/>
          <p:nvPr/>
        </p:nvSpPr>
        <p:spPr>
          <a:xfrm>
            <a:off x="4019571" y="1129608"/>
            <a:ext cx="207642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b="1" dirty="0" smtClean="0">
                <a:solidFill>
                  <a:schemeClr val="bg1"/>
                </a:solidFill>
                <a:latin typeface="quote-cjk-patch"/>
              </a:rPr>
              <a:t>Подзапрос</a:t>
            </a:r>
            <a:endParaRPr lang="ru-RU" b="1" dirty="0">
              <a:solidFill>
                <a:schemeClr val="bg1"/>
              </a:solidFill>
              <a:latin typeface="quote-cjk-patch"/>
            </a:endParaRPr>
          </a:p>
        </p:txBody>
      </p:sp>
      <p:pic>
        <p:nvPicPr>
          <p:cNvPr id="31" name="Рисунок 30"/>
          <p:cNvPicPr/>
          <p:nvPr/>
        </p:nvPicPr>
        <p:blipFill>
          <a:blip r:embed="rId2"/>
          <a:stretch>
            <a:fillRect/>
          </a:stretch>
        </p:blipFill>
        <p:spPr>
          <a:xfrm>
            <a:off x="4957243" y="5099458"/>
            <a:ext cx="2114550" cy="838200"/>
          </a:xfrm>
          <a:prstGeom prst="rect">
            <a:avLst/>
          </a:prstGeom>
        </p:spPr>
      </p:pic>
      <p:sp>
        <p:nvSpPr>
          <p:cNvPr id="36" name="Прямоугольник 35"/>
          <p:cNvSpPr/>
          <p:nvPr/>
        </p:nvSpPr>
        <p:spPr>
          <a:xfrm>
            <a:off x="6466351" y="3081146"/>
            <a:ext cx="6564312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 smtClean="0">
                <a:solidFill>
                  <a:schemeClr val="bg1"/>
                </a:solidFill>
                <a:latin typeface="quote-cjk-patch"/>
              </a:rPr>
              <a:t>Вывод всех профессоров</a:t>
            </a:r>
            <a:br>
              <a:rPr lang="ru-RU" dirty="0" smtClean="0">
                <a:solidFill>
                  <a:schemeClr val="bg1"/>
                </a:solidFill>
                <a:latin typeface="quote-cjk-patch"/>
              </a:rPr>
            </a:br>
            <a:r>
              <a:rPr lang="ru-RU" dirty="0" smtClean="0">
                <a:solidFill>
                  <a:schemeClr val="bg1"/>
                </a:solidFill>
                <a:latin typeface="quote-cjk-patch"/>
              </a:rPr>
              <a:t> и их научных направлений</a:t>
            </a:r>
            <a:endParaRPr lang="ru-RU" dirty="0">
              <a:solidFill>
                <a:schemeClr val="bg1"/>
              </a:solidFill>
              <a:latin typeface="quote-cjk-patch"/>
            </a:endParaRPr>
          </a:p>
        </p:txBody>
      </p:sp>
      <p:sp>
        <p:nvSpPr>
          <p:cNvPr id="38" name="Прямоугольник 37"/>
          <p:cNvSpPr/>
          <p:nvPr/>
        </p:nvSpPr>
        <p:spPr>
          <a:xfrm>
            <a:off x="7950818" y="1129608"/>
            <a:ext cx="274206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b="1" dirty="0" smtClean="0">
                <a:solidFill>
                  <a:schemeClr val="bg1"/>
                </a:solidFill>
                <a:latin typeface="quote-cjk-patch"/>
              </a:rPr>
              <a:t>Соединение таблиц</a:t>
            </a:r>
            <a:endParaRPr lang="ru-RU" b="1" dirty="0">
              <a:solidFill>
                <a:schemeClr val="bg1"/>
              </a:solidFill>
              <a:latin typeface="quote-cjk-patch"/>
            </a:endParaRPr>
          </a:p>
        </p:txBody>
      </p:sp>
      <p:sp>
        <p:nvSpPr>
          <p:cNvPr id="42" name="Прямоугольник 41"/>
          <p:cNvSpPr/>
          <p:nvPr/>
        </p:nvSpPr>
        <p:spPr>
          <a:xfrm>
            <a:off x="8108995" y="1547786"/>
            <a:ext cx="4260170" cy="13748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sz="1500" i="1" kern="100" dirty="0">
                <a:solidFill>
                  <a:srgbClr val="00FF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SELECT </a:t>
            </a:r>
            <a:r>
              <a:rPr lang="en-US" sz="1500" i="1" kern="100" dirty="0" err="1">
                <a:solidFill>
                  <a:srgbClr val="00FF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p.full_name</a:t>
            </a:r>
            <a:r>
              <a:rPr lang="en-US" sz="1500" i="1" kern="100" dirty="0">
                <a:solidFill>
                  <a:srgbClr val="00FF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sz="1500" i="1" kern="100" dirty="0" err="1">
                <a:solidFill>
                  <a:srgbClr val="00FF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role_in_direction</a:t>
            </a:r>
            <a:endParaRPr lang="ru-RU" sz="1500" i="1" kern="100" dirty="0" smtClean="0">
              <a:solidFill>
                <a:srgbClr val="00FFFF"/>
              </a:solidFill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sz="1500" i="1" kern="100" dirty="0">
                <a:solidFill>
                  <a:srgbClr val="00FF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from professor p</a:t>
            </a:r>
            <a:endParaRPr lang="ru-RU" sz="1500" i="1" kern="100" dirty="0" smtClean="0">
              <a:solidFill>
                <a:srgbClr val="00FFFF"/>
              </a:solidFill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sz="1500" i="1" kern="100" dirty="0">
                <a:solidFill>
                  <a:srgbClr val="00FF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LEFT JOIN </a:t>
            </a:r>
            <a:r>
              <a:rPr lang="en-US" sz="1500" i="1" kern="100" dirty="0" err="1">
                <a:solidFill>
                  <a:srgbClr val="00FF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professor_direction</a:t>
            </a:r>
            <a:r>
              <a:rPr lang="en-US" sz="1500" i="1" kern="100" dirty="0">
                <a:solidFill>
                  <a:srgbClr val="00FF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500" i="1" kern="100" dirty="0" err="1">
                <a:solidFill>
                  <a:srgbClr val="00FF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pr</a:t>
            </a:r>
            <a:endParaRPr lang="ru-RU" sz="1500" i="1" kern="100" dirty="0" smtClean="0">
              <a:solidFill>
                <a:srgbClr val="00FFFF"/>
              </a:solidFill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sz="1500" i="1" kern="100" dirty="0">
                <a:solidFill>
                  <a:srgbClr val="00FF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ON p.id = </a:t>
            </a:r>
            <a:r>
              <a:rPr lang="en-US" sz="1500" i="1" kern="100" dirty="0" err="1">
                <a:solidFill>
                  <a:srgbClr val="00FF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pr.professor_id</a:t>
            </a:r>
            <a:r>
              <a:rPr lang="en-US" sz="1500" i="1" kern="100" dirty="0">
                <a:solidFill>
                  <a:srgbClr val="00FF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500" i="1" kern="100" dirty="0">
              <a:solidFill>
                <a:srgbClr val="00FFFF"/>
              </a:solidFill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3" name="Рисунок 42"/>
          <p:cNvPicPr/>
          <p:nvPr/>
        </p:nvPicPr>
        <p:blipFill>
          <a:blip r:embed="rId3"/>
          <a:stretch>
            <a:fillRect/>
          </a:stretch>
        </p:blipFill>
        <p:spPr>
          <a:xfrm>
            <a:off x="8107472" y="3885973"/>
            <a:ext cx="3524250" cy="2181225"/>
          </a:xfrm>
          <a:prstGeom prst="rect">
            <a:avLst/>
          </a:prstGeom>
        </p:spPr>
      </p:pic>
      <p:sp>
        <p:nvSpPr>
          <p:cNvPr id="6" name="Текстовое поле 5">
            <a:hlinkClick r:id="rId4" action="ppaction://hlinksldjump"/>
          </p:cNvPr>
          <p:cNvSpPr txBox="1"/>
          <p:nvPr/>
        </p:nvSpPr>
        <p:spPr>
          <a:xfrm>
            <a:off x="10215880" y="208280"/>
            <a:ext cx="1758315" cy="4298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ru-RU" altLang="en-US" sz="2200" dirty="0" smtClean="0">
                <a:solidFill>
                  <a:schemeClr val="bg1"/>
                </a:solidFill>
                <a:effectLst/>
                <a:latin typeface="quote-cjk-patch"/>
                <a:sym typeface="+mn-ea"/>
              </a:rPr>
              <a:t>Оглавление</a:t>
            </a:r>
            <a:endParaRPr lang="ru-RU" altLang="en-US" sz="2200" dirty="0" smtClean="0">
              <a:solidFill>
                <a:schemeClr val="bg1"/>
              </a:solidFill>
              <a:effectLst/>
              <a:latin typeface="quote-cjk-patch"/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070C0"/>
            </a:gs>
            <a:gs pos="100000">
              <a:srgbClr val="00B0F0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0" y="98899"/>
            <a:ext cx="12192000" cy="876299"/>
          </a:xfrm>
        </p:spPr>
        <p:txBody>
          <a:bodyPr>
            <a:normAutofit/>
          </a:bodyPr>
          <a:lstStyle/>
          <a:p>
            <a:pPr algn="l"/>
            <a:r>
              <a:rPr lang="ru-RU" sz="4445" dirty="0" smtClean="0">
                <a:solidFill>
                  <a:schemeClr val="bg1"/>
                </a:solidFill>
              </a:rPr>
              <a:t>Хранимые процедуры, функции</a:t>
            </a:r>
            <a:endParaRPr lang="ru-RU" sz="4445" dirty="0">
              <a:solidFill>
                <a:schemeClr val="bg1"/>
              </a:solidFill>
            </a:endParaRPr>
          </a:p>
        </p:txBody>
      </p:sp>
      <p:sp>
        <p:nvSpPr>
          <p:cNvPr id="9" name="Прямоугольник 8"/>
          <p:cNvSpPr/>
          <p:nvPr/>
        </p:nvSpPr>
        <p:spPr>
          <a:xfrm>
            <a:off x="-468312" y="4884825"/>
            <a:ext cx="6564312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 smtClean="0">
                <a:solidFill>
                  <a:schemeClr val="bg1"/>
                </a:solidFill>
                <a:latin typeface="quote-cjk-patch"/>
              </a:rPr>
              <a:t>Функция выводит общее количество</a:t>
            </a:r>
            <a:br>
              <a:rPr lang="ru-RU" dirty="0" smtClean="0">
                <a:solidFill>
                  <a:schemeClr val="bg1"/>
                </a:solidFill>
                <a:latin typeface="quote-cjk-patch"/>
              </a:rPr>
            </a:br>
            <a:r>
              <a:rPr lang="ru-RU" dirty="0" smtClean="0">
                <a:solidFill>
                  <a:schemeClr val="bg1"/>
                </a:solidFill>
                <a:latin typeface="quote-cjk-patch"/>
              </a:rPr>
              <a:t> научных направлений</a:t>
            </a:r>
            <a:endParaRPr lang="ru-RU" dirty="0">
              <a:solidFill>
                <a:schemeClr val="bg1"/>
              </a:solidFill>
              <a:latin typeface="quote-cjk-patch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775629" y="896347"/>
            <a:ext cx="207642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b="1" dirty="0" smtClean="0">
                <a:solidFill>
                  <a:schemeClr val="bg1"/>
                </a:solidFill>
                <a:latin typeface="quote-cjk-patch"/>
              </a:rPr>
              <a:t>Функция</a:t>
            </a:r>
            <a:endParaRPr lang="ru-RU" b="1" dirty="0">
              <a:solidFill>
                <a:schemeClr val="bg1"/>
              </a:solidFill>
              <a:latin typeface="quote-cjk-patch"/>
            </a:endParaRPr>
          </a:p>
        </p:txBody>
      </p:sp>
      <p:sp>
        <p:nvSpPr>
          <p:cNvPr id="36" name="Прямоугольник 35"/>
          <p:cNvSpPr/>
          <p:nvPr/>
        </p:nvSpPr>
        <p:spPr>
          <a:xfrm>
            <a:off x="6356935" y="4889988"/>
            <a:ext cx="656431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 smtClean="0">
                <a:solidFill>
                  <a:schemeClr val="bg1"/>
                </a:solidFill>
                <a:latin typeface="quote-cjk-patch"/>
              </a:rPr>
              <a:t>Процедура смены статуса студента</a:t>
            </a:r>
            <a:endParaRPr lang="ru-RU" dirty="0">
              <a:solidFill>
                <a:schemeClr val="bg1"/>
              </a:solidFill>
              <a:latin typeface="quote-cjk-patch"/>
            </a:endParaRPr>
          </a:p>
        </p:txBody>
      </p:sp>
      <p:sp>
        <p:nvSpPr>
          <p:cNvPr id="38" name="Прямоугольник 37"/>
          <p:cNvSpPr/>
          <p:nvPr/>
        </p:nvSpPr>
        <p:spPr>
          <a:xfrm>
            <a:off x="8268059" y="869780"/>
            <a:ext cx="274206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b="1" dirty="0" smtClean="0">
                <a:solidFill>
                  <a:schemeClr val="bg1"/>
                </a:solidFill>
                <a:latin typeface="quote-cjk-patch"/>
              </a:rPr>
              <a:t>Процедура</a:t>
            </a:r>
            <a:endParaRPr lang="ru-RU" b="1" dirty="0">
              <a:solidFill>
                <a:schemeClr val="bg1"/>
              </a:solidFill>
              <a:latin typeface="quote-cjk-patch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475861" y="1261492"/>
            <a:ext cx="5379843" cy="35548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500" i="1" dirty="0">
                <a:solidFill>
                  <a:srgbClr val="00FFFF"/>
                </a:solidFill>
                <a:latin typeface="Consolas" panose="020B0609020204030204" pitchFamily="49" charset="0"/>
              </a:rPr>
              <a:t>DELIMITER //</a:t>
            </a:r>
            <a:endParaRPr lang="en-US" sz="1500" i="1" dirty="0">
              <a:solidFill>
                <a:srgbClr val="00FFFF"/>
              </a:solidFill>
              <a:latin typeface="Consolas" panose="020B0609020204030204" pitchFamily="49" charset="0"/>
            </a:endParaRPr>
          </a:p>
          <a:p>
            <a:r>
              <a:rPr lang="en-US" sz="1500" i="1" dirty="0">
                <a:solidFill>
                  <a:srgbClr val="00FFFF"/>
                </a:solidFill>
                <a:latin typeface="Consolas" panose="020B0609020204030204" pitchFamily="49" charset="0"/>
              </a:rPr>
              <a:t>CREATE FUNCTION </a:t>
            </a:r>
            <a:r>
              <a:rPr lang="en-US" sz="1500" i="1" dirty="0" err="1">
                <a:solidFill>
                  <a:srgbClr val="00FFFF"/>
                </a:solidFill>
                <a:latin typeface="Consolas" panose="020B0609020204030204" pitchFamily="49" charset="0"/>
              </a:rPr>
              <a:t>GetTotalResearchDirections</a:t>
            </a:r>
            <a:r>
              <a:rPr lang="en-US" sz="1500" i="1" dirty="0">
                <a:solidFill>
                  <a:srgbClr val="00FFFF"/>
                </a:solidFill>
                <a:latin typeface="Consolas" panose="020B0609020204030204" pitchFamily="49" charset="0"/>
              </a:rPr>
              <a:t>() </a:t>
            </a:r>
            <a:endParaRPr lang="en-US" sz="1500" i="1" dirty="0">
              <a:solidFill>
                <a:srgbClr val="00FFFF"/>
              </a:solidFill>
              <a:latin typeface="Consolas" panose="020B0609020204030204" pitchFamily="49" charset="0"/>
            </a:endParaRPr>
          </a:p>
          <a:p>
            <a:r>
              <a:rPr lang="en-US" sz="1500" i="1" dirty="0">
                <a:solidFill>
                  <a:srgbClr val="00FFFF"/>
                </a:solidFill>
                <a:latin typeface="Consolas" panose="020B0609020204030204" pitchFamily="49" charset="0"/>
              </a:rPr>
              <a:t>RETURNS INT</a:t>
            </a:r>
            <a:endParaRPr lang="en-US" sz="1500" i="1" dirty="0">
              <a:solidFill>
                <a:srgbClr val="00FFFF"/>
              </a:solidFill>
              <a:latin typeface="Consolas" panose="020B0609020204030204" pitchFamily="49" charset="0"/>
            </a:endParaRPr>
          </a:p>
          <a:p>
            <a:r>
              <a:rPr lang="en-US" sz="1500" i="1" dirty="0">
                <a:solidFill>
                  <a:srgbClr val="00FFFF"/>
                </a:solidFill>
                <a:latin typeface="Consolas" panose="020B0609020204030204" pitchFamily="49" charset="0"/>
              </a:rPr>
              <a:t>READS SQL DATA</a:t>
            </a:r>
            <a:endParaRPr lang="en-US" sz="1500" i="1" dirty="0">
              <a:solidFill>
                <a:srgbClr val="00FFFF"/>
              </a:solidFill>
              <a:latin typeface="Consolas" panose="020B0609020204030204" pitchFamily="49" charset="0"/>
            </a:endParaRPr>
          </a:p>
          <a:p>
            <a:r>
              <a:rPr lang="en-US" sz="1500" i="1" dirty="0">
                <a:solidFill>
                  <a:srgbClr val="00FFFF"/>
                </a:solidFill>
                <a:latin typeface="Consolas" panose="020B0609020204030204" pitchFamily="49" charset="0"/>
              </a:rPr>
              <a:t>DETERMINISTIC</a:t>
            </a:r>
            <a:endParaRPr lang="en-US" sz="1500" i="1" dirty="0">
              <a:solidFill>
                <a:srgbClr val="00FFFF"/>
              </a:solidFill>
              <a:latin typeface="Consolas" panose="020B0609020204030204" pitchFamily="49" charset="0"/>
            </a:endParaRPr>
          </a:p>
          <a:p>
            <a:r>
              <a:rPr lang="en-US" sz="1500" i="1" dirty="0">
                <a:solidFill>
                  <a:srgbClr val="00FFFF"/>
                </a:solidFill>
                <a:latin typeface="Consolas" panose="020B0609020204030204" pitchFamily="49" charset="0"/>
              </a:rPr>
              <a:t>BEGIN</a:t>
            </a:r>
            <a:endParaRPr lang="en-US" sz="1500" i="1" dirty="0">
              <a:solidFill>
                <a:srgbClr val="00FFFF"/>
              </a:solidFill>
              <a:latin typeface="Consolas" panose="020B0609020204030204" pitchFamily="49" charset="0"/>
            </a:endParaRPr>
          </a:p>
          <a:p>
            <a:r>
              <a:rPr lang="en-US" sz="1500" i="1" dirty="0">
                <a:solidFill>
                  <a:srgbClr val="00FFFF"/>
                </a:solidFill>
                <a:latin typeface="Consolas" panose="020B0609020204030204" pitchFamily="49" charset="0"/>
              </a:rPr>
              <a:t>    DECLARE </a:t>
            </a:r>
            <a:r>
              <a:rPr lang="en-US" sz="1500" i="1" dirty="0" err="1">
                <a:solidFill>
                  <a:srgbClr val="00FFFF"/>
                </a:solidFill>
                <a:latin typeface="Consolas" panose="020B0609020204030204" pitchFamily="49" charset="0"/>
              </a:rPr>
              <a:t>total_count</a:t>
            </a:r>
            <a:r>
              <a:rPr lang="en-US" sz="1500" i="1" dirty="0">
                <a:solidFill>
                  <a:srgbClr val="00FFFF"/>
                </a:solidFill>
                <a:latin typeface="Consolas" panose="020B0609020204030204" pitchFamily="49" charset="0"/>
              </a:rPr>
              <a:t> INT;</a:t>
            </a:r>
            <a:endParaRPr lang="en-US" sz="1500" i="1" dirty="0">
              <a:solidFill>
                <a:srgbClr val="00FFFF"/>
              </a:solidFill>
              <a:latin typeface="Consolas" panose="020B0609020204030204" pitchFamily="49" charset="0"/>
            </a:endParaRPr>
          </a:p>
          <a:p>
            <a:r>
              <a:rPr lang="en-US" sz="1500" i="1" dirty="0">
                <a:solidFill>
                  <a:srgbClr val="00FFFF"/>
                </a:solidFill>
                <a:latin typeface="Consolas" panose="020B0609020204030204" pitchFamily="49" charset="0"/>
              </a:rPr>
              <a:t>    SELECT COUNT(*) INTO </a:t>
            </a:r>
            <a:r>
              <a:rPr lang="en-US" sz="1500" i="1" dirty="0" err="1">
                <a:solidFill>
                  <a:srgbClr val="00FFFF"/>
                </a:solidFill>
                <a:latin typeface="Consolas" panose="020B0609020204030204" pitchFamily="49" charset="0"/>
              </a:rPr>
              <a:t>total_count</a:t>
            </a:r>
            <a:r>
              <a:rPr lang="en-US" sz="1500" i="1" dirty="0">
                <a:solidFill>
                  <a:srgbClr val="00FFFF"/>
                </a:solidFill>
                <a:latin typeface="Consolas" panose="020B0609020204030204" pitchFamily="49" charset="0"/>
              </a:rPr>
              <a:t> FROM </a:t>
            </a:r>
            <a:r>
              <a:rPr lang="en-US" sz="1500" i="1" dirty="0" err="1">
                <a:solidFill>
                  <a:srgbClr val="00FFFF"/>
                </a:solidFill>
                <a:latin typeface="Consolas" panose="020B0609020204030204" pitchFamily="49" charset="0"/>
              </a:rPr>
              <a:t>ResearchDirection</a:t>
            </a:r>
            <a:r>
              <a:rPr lang="en-US" sz="1500" i="1" dirty="0">
                <a:solidFill>
                  <a:srgbClr val="00FFFF"/>
                </a:solidFill>
                <a:latin typeface="Consolas" panose="020B0609020204030204" pitchFamily="49" charset="0"/>
              </a:rPr>
              <a:t>;</a:t>
            </a:r>
            <a:endParaRPr lang="en-US" sz="1500" i="1" dirty="0">
              <a:solidFill>
                <a:srgbClr val="00FFFF"/>
              </a:solidFill>
              <a:latin typeface="Consolas" panose="020B0609020204030204" pitchFamily="49" charset="0"/>
            </a:endParaRPr>
          </a:p>
          <a:p>
            <a:r>
              <a:rPr lang="en-US" sz="1500" i="1" dirty="0">
                <a:solidFill>
                  <a:srgbClr val="00FFFF"/>
                </a:solidFill>
                <a:latin typeface="Consolas" panose="020B0609020204030204" pitchFamily="49" charset="0"/>
              </a:rPr>
              <a:t>    RETURN </a:t>
            </a:r>
            <a:r>
              <a:rPr lang="en-US" sz="1500" i="1" dirty="0" err="1">
                <a:solidFill>
                  <a:srgbClr val="00FFFF"/>
                </a:solidFill>
                <a:latin typeface="Consolas" panose="020B0609020204030204" pitchFamily="49" charset="0"/>
              </a:rPr>
              <a:t>total_count</a:t>
            </a:r>
            <a:r>
              <a:rPr lang="en-US" sz="1500" i="1" dirty="0">
                <a:solidFill>
                  <a:srgbClr val="00FFFF"/>
                </a:solidFill>
                <a:latin typeface="Consolas" panose="020B0609020204030204" pitchFamily="49" charset="0"/>
              </a:rPr>
              <a:t>;</a:t>
            </a:r>
            <a:endParaRPr lang="en-US" sz="1500" i="1" dirty="0">
              <a:solidFill>
                <a:srgbClr val="00FFFF"/>
              </a:solidFill>
              <a:latin typeface="Consolas" panose="020B0609020204030204" pitchFamily="49" charset="0"/>
            </a:endParaRPr>
          </a:p>
          <a:p>
            <a:r>
              <a:rPr lang="en-US" sz="1500" i="1" dirty="0">
                <a:solidFill>
                  <a:srgbClr val="00FFFF"/>
                </a:solidFill>
                <a:latin typeface="Consolas" panose="020B0609020204030204" pitchFamily="49" charset="0"/>
              </a:rPr>
              <a:t>END//</a:t>
            </a:r>
            <a:endParaRPr lang="en-US" sz="1500" i="1" dirty="0">
              <a:solidFill>
                <a:srgbClr val="00FFFF"/>
              </a:solidFill>
              <a:latin typeface="Consolas" panose="020B0609020204030204" pitchFamily="49" charset="0"/>
            </a:endParaRPr>
          </a:p>
          <a:p>
            <a:r>
              <a:rPr lang="en-US" sz="1500" i="1" dirty="0">
                <a:solidFill>
                  <a:srgbClr val="00FFFF"/>
                </a:solidFill>
                <a:latin typeface="Consolas" panose="020B0609020204030204" pitchFamily="49" charset="0"/>
              </a:rPr>
              <a:t>DELIMITER ;</a:t>
            </a:r>
            <a:endParaRPr lang="en-US" sz="1500" i="1" dirty="0">
              <a:solidFill>
                <a:srgbClr val="00FFFF"/>
              </a:solidFill>
              <a:latin typeface="Consolas" panose="020B0609020204030204" pitchFamily="49" charset="0"/>
            </a:endParaRPr>
          </a:p>
          <a:p>
            <a:endParaRPr lang="en-US" sz="1500" i="1" dirty="0">
              <a:solidFill>
                <a:srgbClr val="00FFFF"/>
              </a:solidFill>
              <a:latin typeface="Consolas" panose="020B0609020204030204" pitchFamily="49" charset="0"/>
            </a:endParaRPr>
          </a:p>
          <a:p>
            <a:r>
              <a:rPr lang="en-US" sz="1500" i="1" dirty="0">
                <a:solidFill>
                  <a:srgbClr val="00FFFF"/>
                </a:solidFill>
                <a:latin typeface="Consolas" panose="020B0609020204030204" pitchFamily="49" charset="0"/>
              </a:rPr>
              <a:t>SELECT </a:t>
            </a:r>
            <a:r>
              <a:rPr lang="en-US" sz="1500" i="1" dirty="0" err="1">
                <a:solidFill>
                  <a:srgbClr val="00FFFF"/>
                </a:solidFill>
                <a:latin typeface="Consolas" panose="020B0609020204030204" pitchFamily="49" charset="0"/>
              </a:rPr>
              <a:t>GetTotalResearchDirections</a:t>
            </a:r>
            <a:r>
              <a:rPr lang="en-US" sz="1500" i="1" dirty="0">
                <a:solidFill>
                  <a:srgbClr val="00FFFF"/>
                </a:solidFill>
                <a:latin typeface="Consolas" panose="020B0609020204030204" pitchFamily="49" charset="0"/>
              </a:rPr>
              <a:t>() as '</a:t>
            </a:r>
            <a:r>
              <a:rPr lang="ru-RU" sz="1500" i="1" dirty="0">
                <a:solidFill>
                  <a:srgbClr val="00FFFF"/>
                </a:solidFill>
                <a:latin typeface="Consolas" panose="020B0609020204030204" pitchFamily="49" charset="0"/>
              </a:rPr>
              <a:t>Всего направлений';</a:t>
            </a:r>
            <a:endParaRPr lang="ru-RU" sz="1500" i="1" dirty="0">
              <a:solidFill>
                <a:srgbClr val="00FFFF"/>
              </a:solidFill>
              <a:latin typeface="Consolas" panose="020B0609020204030204" pitchFamily="49" charset="0"/>
            </a:endParaRPr>
          </a:p>
        </p:txBody>
      </p:sp>
      <p:pic>
        <p:nvPicPr>
          <p:cNvPr id="17" name="Рисунок 16"/>
          <p:cNvPicPr/>
          <p:nvPr/>
        </p:nvPicPr>
        <p:blipFill>
          <a:blip r:embed="rId1"/>
          <a:stretch>
            <a:fillRect/>
          </a:stretch>
        </p:blipFill>
        <p:spPr>
          <a:xfrm>
            <a:off x="2104230" y="5762398"/>
            <a:ext cx="1419225" cy="609600"/>
          </a:xfrm>
          <a:prstGeom prst="rect">
            <a:avLst/>
          </a:prstGeom>
        </p:spPr>
      </p:pic>
      <p:sp>
        <p:nvSpPr>
          <p:cNvPr id="8" name="Прямоугольник 7"/>
          <p:cNvSpPr/>
          <p:nvPr/>
        </p:nvSpPr>
        <p:spPr>
          <a:xfrm>
            <a:off x="7815899" y="1261492"/>
            <a:ext cx="6096000" cy="3093154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500" i="1" dirty="0">
                <a:solidFill>
                  <a:srgbClr val="00FFFF"/>
                </a:solidFill>
                <a:latin typeface="Consolas" panose="020B0609020204030204" pitchFamily="49" charset="0"/>
              </a:rPr>
              <a:t>DELIMITER //</a:t>
            </a:r>
            <a:endParaRPr lang="en-US" sz="1500" i="1" dirty="0">
              <a:solidFill>
                <a:srgbClr val="00FFFF"/>
              </a:solidFill>
              <a:latin typeface="Consolas" panose="020B0609020204030204" pitchFamily="49" charset="0"/>
            </a:endParaRPr>
          </a:p>
          <a:p>
            <a:r>
              <a:rPr lang="en-US" sz="1500" i="1" dirty="0">
                <a:solidFill>
                  <a:srgbClr val="00FFFF"/>
                </a:solidFill>
                <a:latin typeface="Consolas" panose="020B0609020204030204" pitchFamily="49" charset="0"/>
              </a:rPr>
              <a:t>CREATE PROCEDURE </a:t>
            </a:r>
            <a:r>
              <a:rPr lang="en-US" sz="1500" i="1" dirty="0" err="1">
                <a:solidFill>
                  <a:srgbClr val="00FFFF"/>
                </a:solidFill>
                <a:latin typeface="Consolas" panose="020B0609020204030204" pitchFamily="49" charset="0"/>
              </a:rPr>
              <a:t>ChangeStudentStatus</a:t>
            </a:r>
            <a:r>
              <a:rPr lang="en-US" sz="1500" i="1" dirty="0">
                <a:solidFill>
                  <a:srgbClr val="00FFFF"/>
                </a:solidFill>
                <a:latin typeface="Consolas" panose="020B0609020204030204" pitchFamily="49" charset="0"/>
              </a:rPr>
              <a:t>(</a:t>
            </a:r>
            <a:endParaRPr lang="en-US" sz="1500" i="1" dirty="0">
              <a:solidFill>
                <a:srgbClr val="00FFFF"/>
              </a:solidFill>
              <a:latin typeface="Consolas" panose="020B0609020204030204" pitchFamily="49" charset="0"/>
            </a:endParaRPr>
          </a:p>
          <a:p>
            <a:r>
              <a:rPr lang="en-US" sz="1500" i="1" dirty="0">
                <a:solidFill>
                  <a:srgbClr val="00FFFF"/>
                </a:solidFill>
                <a:latin typeface="Consolas" panose="020B0609020204030204" pitchFamily="49" charset="0"/>
              </a:rPr>
              <a:t>    IN </a:t>
            </a:r>
            <a:r>
              <a:rPr lang="en-US" sz="1500" i="1" dirty="0" err="1">
                <a:solidFill>
                  <a:srgbClr val="00FFFF"/>
                </a:solidFill>
                <a:latin typeface="Consolas" panose="020B0609020204030204" pitchFamily="49" charset="0"/>
              </a:rPr>
              <a:t>student_id</a:t>
            </a:r>
            <a:r>
              <a:rPr lang="en-US" sz="1500" i="1" dirty="0">
                <a:solidFill>
                  <a:srgbClr val="00FFFF"/>
                </a:solidFill>
                <a:latin typeface="Consolas" panose="020B0609020204030204" pitchFamily="49" charset="0"/>
              </a:rPr>
              <a:t> INT,</a:t>
            </a:r>
            <a:endParaRPr lang="en-US" sz="1500" i="1" dirty="0">
              <a:solidFill>
                <a:srgbClr val="00FFFF"/>
              </a:solidFill>
              <a:latin typeface="Consolas" panose="020B0609020204030204" pitchFamily="49" charset="0"/>
            </a:endParaRPr>
          </a:p>
          <a:p>
            <a:r>
              <a:rPr lang="en-US" sz="1500" i="1" dirty="0">
                <a:solidFill>
                  <a:srgbClr val="00FFFF"/>
                </a:solidFill>
                <a:latin typeface="Consolas" panose="020B0609020204030204" pitchFamily="49" charset="0"/>
              </a:rPr>
              <a:t>    IN </a:t>
            </a:r>
            <a:r>
              <a:rPr lang="en-US" sz="1500" i="1" dirty="0" err="1">
                <a:solidFill>
                  <a:srgbClr val="00FFFF"/>
                </a:solidFill>
                <a:latin typeface="Consolas" panose="020B0609020204030204" pitchFamily="49" charset="0"/>
              </a:rPr>
              <a:t>new_status_id</a:t>
            </a:r>
            <a:r>
              <a:rPr lang="en-US" sz="1500" i="1" dirty="0">
                <a:solidFill>
                  <a:srgbClr val="00FFFF"/>
                </a:solidFill>
                <a:latin typeface="Consolas" panose="020B0609020204030204" pitchFamily="49" charset="0"/>
              </a:rPr>
              <a:t> INT</a:t>
            </a:r>
            <a:endParaRPr lang="en-US" sz="1500" i="1" dirty="0">
              <a:solidFill>
                <a:srgbClr val="00FFFF"/>
              </a:solidFill>
              <a:latin typeface="Consolas" panose="020B0609020204030204" pitchFamily="49" charset="0"/>
            </a:endParaRPr>
          </a:p>
          <a:p>
            <a:r>
              <a:rPr lang="en-US" sz="1500" i="1" dirty="0">
                <a:solidFill>
                  <a:srgbClr val="00FFFF"/>
                </a:solidFill>
                <a:latin typeface="Consolas" panose="020B0609020204030204" pitchFamily="49" charset="0"/>
              </a:rPr>
              <a:t>)</a:t>
            </a:r>
            <a:endParaRPr lang="en-US" sz="1500" i="1" dirty="0">
              <a:solidFill>
                <a:srgbClr val="00FFFF"/>
              </a:solidFill>
              <a:latin typeface="Consolas" panose="020B0609020204030204" pitchFamily="49" charset="0"/>
            </a:endParaRPr>
          </a:p>
          <a:p>
            <a:r>
              <a:rPr lang="en-US" sz="1500" i="1" dirty="0">
                <a:solidFill>
                  <a:srgbClr val="00FFFF"/>
                </a:solidFill>
                <a:latin typeface="Consolas" panose="020B0609020204030204" pitchFamily="49" charset="0"/>
              </a:rPr>
              <a:t>BEGIN</a:t>
            </a:r>
            <a:endParaRPr lang="en-US" sz="1500" i="1" dirty="0">
              <a:solidFill>
                <a:srgbClr val="00FFFF"/>
              </a:solidFill>
              <a:latin typeface="Consolas" panose="020B0609020204030204" pitchFamily="49" charset="0"/>
            </a:endParaRPr>
          </a:p>
          <a:p>
            <a:r>
              <a:rPr lang="en-US" sz="1500" i="1" dirty="0">
                <a:solidFill>
                  <a:srgbClr val="00FFFF"/>
                </a:solidFill>
                <a:latin typeface="Consolas" panose="020B0609020204030204" pitchFamily="49" charset="0"/>
              </a:rPr>
              <a:t>    UPDATE Student </a:t>
            </a:r>
            <a:endParaRPr lang="en-US" sz="1500" i="1" dirty="0">
              <a:solidFill>
                <a:srgbClr val="00FFFF"/>
              </a:solidFill>
              <a:latin typeface="Consolas" panose="020B0609020204030204" pitchFamily="49" charset="0"/>
            </a:endParaRPr>
          </a:p>
          <a:p>
            <a:r>
              <a:rPr lang="en-US" sz="1500" i="1" dirty="0">
                <a:solidFill>
                  <a:srgbClr val="00FFFF"/>
                </a:solidFill>
                <a:latin typeface="Consolas" panose="020B0609020204030204" pitchFamily="49" charset="0"/>
              </a:rPr>
              <a:t>    SET </a:t>
            </a:r>
            <a:r>
              <a:rPr lang="en-US" sz="1500" i="1" dirty="0" err="1">
                <a:solidFill>
                  <a:srgbClr val="00FFFF"/>
                </a:solidFill>
                <a:latin typeface="Consolas" panose="020B0609020204030204" pitchFamily="49" charset="0"/>
              </a:rPr>
              <a:t>status_id</a:t>
            </a:r>
            <a:r>
              <a:rPr lang="en-US" sz="1500" i="1" dirty="0">
                <a:solidFill>
                  <a:srgbClr val="00FFFF"/>
                </a:solidFill>
                <a:latin typeface="Consolas" panose="020B0609020204030204" pitchFamily="49" charset="0"/>
              </a:rPr>
              <a:t> = </a:t>
            </a:r>
            <a:r>
              <a:rPr lang="en-US" sz="1500" i="1" dirty="0" err="1">
                <a:solidFill>
                  <a:srgbClr val="00FFFF"/>
                </a:solidFill>
                <a:latin typeface="Consolas" panose="020B0609020204030204" pitchFamily="49" charset="0"/>
              </a:rPr>
              <a:t>new_status_id</a:t>
            </a:r>
            <a:r>
              <a:rPr lang="en-US" sz="1500" i="1" dirty="0">
                <a:solidFill>
                  <a:srgbClr val="00FFFF"/>
                </a:solidFill>
                <a:latin typeface="Consolas" panose="020B0609020204030204" pitchFamily="49" charset="0"/>
              </a:rPr>
              <a:t> </a:t>
            </a:r>
            <a:endParaRPr lang="en-US" sz="1500" i="1" dirty="0">
              <a:solidFill>
                <a:srgbClr val="00FFFF"/>
              </a:solidFill>
              <a:latin typeface="Consolas" panose="020B0609020204030204" pitchFamily="49" charset="0"/>
            </a:endParaRPr>
          </a:p>
          <a:p>
            <a:r>
              <a:rPr lang="en-US" sz="1500" i="1" dirty="0">
                <a:solidFill>
                  <a:srgbClr val="00FFFF"/>
                </a:solidFill>
                <a:latin typeface="Consolas" panose="020B0609020204030204" pitchFamily="49" charset="0"/>
              </a:rPr>
              <a:t>    WHERE id = </a:t>
            </a:r>
            <a:r>
              <a:rPr lang="en-US" sz="1500" i="1" dirty="0" err="1">
                <a:solidFill>
                  <a:srgbClr val="00FFFF"/>
                </a:solidFill>
                <a:latin typeface="Consolas" panose="020B0609020204030204" pitchFamily="49" charset="0"/>
              </a:rPr>
              <a:t>student_id</a:t>
            </a:r>
            <a:r>
              <a:rPr lang="en-US" sz="1500" i="1" dirty="0">
                <a:solidFill>
                  <a:srgbClr val="00FFFF"/>
                </a:solidFill>
                <a:latin typeface="Consolas" panose="020B0609020204030204" pitchFamily="49" charset="0"/>
              </a:rPr>
              <a:t>;</a:t>
            </a:r>
            <a:endParaRPr lang="en-US" sz="1500" i="1" dirty="0">
              <a:solidFill>
                <a:srgbClr val="00FFFF"/>
              </a:solidFill>
              <a:latin typeface="Consolas" panose="020B0609020204030204" pitchFamily="49" charset="0"/>
            </a:endParaRPr>
          </a:p>
          <a:p>
            <a:r>
              <a:rPr lang="en-US" sz="1500" i="1" dirty="0">
                <a:solidFill>
                  <a:srgbClr val="00FFFF"/>
                </a:solidFill>
                <a:latin typeface="Consolas" panose="020B0609020204030204" pitchFamily="49" charset="0"/>
              </a:rPr>
              <a:t>END //</a:t>
            </a:r>
            <a:endParaRPr lang="en-US" sz="1500" i="1" dirty="0">
              <a:solidFill>
                <a:srgbClr val="00FFFF"/>
              </a:solidFill>
              <a:latin typeface="Consolas" panose="020B0609020204030204" pitchFamily="49" charset="0"/>
            </a:endParaRPr>
          </a:p>
          <a:p>
            <a:r>
              <a:rPr lang="en-US" sz="1500" i="1" dirty="0">
                <a:solidFill>
                  <a:srgbClr val="00FFFF"/>
                </a:solidFill>
                <a:latin typeface="Consolas" panose="020B0609020204030204" pitchFamily="49" charset="0"/>
              </a:rPr>
              <a:t>DELIMITER ;</a:t>
            </a:r>
            <a:endParaRPr lang="en-US" sz="1500" i="1" dirty="0">
              <a:solidFill>
                <a:srgbClr val="00FFFF"/>
              </a:solidFill>
              <a:latin typeface="Consolas" panose="020B0609020204030204" pitchFamily="49" charset="0"/>
            </a:endParaRPr>
          </a:p>
          <a:p>
            <a:endParaRPr lang="en-US" sz="1500" i="1" dirty="0">
              <a:solidFill>
                <a:srgbClr val="00FFFF"/>
              </a:solidFill>
              <a:latin typeface="Consolas" panose="020B0609020204030204" pitchFamily="49" charset="0"/>
            </a:endParaRPr>
          </a:p>
          <a:p>
            <a:r>
              <a:rPr lang="en-US" sz="1500" i="1" dirty="0">
                <a:solidFill>
                  <a:srgbClr val="00FFFF"/>
                </a:solidFill>
                <a:latin typeface="Consolas" panose="020B0609020204030204" pitchFamily="49" charset="0"/>
              </a:rPr>
              <a:t>CALL </a:t>
            </a:r>
            <a:r>
              <a:rPr lang="en-US" sz="1500" i="1" dirty="0" err="1">
                <a:solidFill>
                  <a:srgbClr val="00FFFF"/>
                </a:solidFill>
                <a:latin typeface="Consolas" panose="020B0609020204030204" pitchFamily="49" charset="0"/>
              </a:rPr>
              <a:t>ChangeStudentStatus</a:t>
            </a:r>
            <a:r>
              <a:rPr lang="en-US" sz="1500" i="1" dirty="0">
                <a:solidFill>
                  <a:srgbClr val="00FFFF"/>
                </a:solidFill>
                <a:latin typeface="Consolas" panose="020B0609020204030204" pitchFamily="49" charset="0"/>
              </a:rPr>
              <a:t>(1, 5);</a:t>
            </a:r>
            <a:endParaRPr lang="en-US" sz="1500" i="1" dirty="0">
              <a:solidFill>
                <a:srgbClr val="00FFFF"/>
              </a:solidFill>
              <a:latin typeface="Consolas" panose="020B0609020204030204" pitchFamily="49" charset="0"/>
            </a:endParaRPr>
          </a:p>
        </p:txBody>
      </p:sp>
      <p:pic>
        <p:nvPicPr>
          <p:cNvPr id="19" name="Рисунок 18"/>
          <p:cNvPicPr/>
          <p:nvPr/>
        </p:nvPicPr>
        <p:blipFill>
          <a:blip r:embed="rId2"/>
          <a:stretch>
            <a:fillRect/>
          </a:stretch>
        </p:blipFill>
        <p:spPr>
          <a:xfrm>
            <a:off x="7810291" y="5829073"/>
            <a:ext cx="3657600" cy="238125"/>
          </a:xfrm>
          <a:prstGeom prst="rect">
            <a:avLst/>
          </a:prstGeom>
        </p:spPr>
      </p:pic>
      <p:sp>
        <p:nvSpPr>
          <p:cNvPr id="5" name="Текстовое поле 4">
            <a:hlinkClick r:id="rId3" action="ppaction://hlinksldjump"/>
          </p:cNvPr>
          <p:cNvSpPr txBox="1"/>
          <p:nvPr/>
        </p:nvSpPr>
        <p:spPr>
          <a:xfrm>
            <a:off x="10215880" y="208280"/>
            <a:ext cx="1758315" cy="4298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ru-RU" altLang="en-US" sz="2200" dirty="0" smtClean="0">
                <a:solidFill>
                  <a:schemeClr val="bg1"/>
                </a:solidFill>
                <a:effectLst/>
                <a:latin typeface="quote-cjk-patch"/>
                <a:sym typeface="+mn-ea"/>
              </a:rPr>
              <a:t>Оглавление</a:t>
            </a:r>
            <a:endParaRPr lang="ru-RU" altLang="en-US" sz="2200" dirty="0" smtClean="0">
              <a:solidFill>
                <a:schemeClr val="bg1"/>
              </a:solidFill>
              <a:effectLst/>
              <a:latin typeface="quote-cjk-patch"/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070C0"/>
            </a:gs>
            <a:gs pos="100000">
              <a:srgbClr val="00B0F0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0" y="98900"/>
            <a:ext cx="12192000" cy="645368"/>
          </a:xfrm>
        </p:spPr>
        <p:txBody>
          <a:bodyPr>
            <a:normAutofit fontScale="90000"/>
          </a:bodyPr>
          <a:lstStyle/>
          <a:p>
            <a:pPr algn="l"/>
            <a:r>
              <a:rPr lang="ru-RU" sz="4445" dirty="0" smtClean="0">
                <a:solidFill>
                  <a:schemeClr val="bg1"/>
                </a:solidFill>
              </a:rPr>
              <a:t>Триггеры</a:t>
            </a:r>
            <a:endParaRPr lang="ru-RU" sz="4445" dirty="0">
              <a:solidFill>
                <a:schemeClr val="bg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635" y="789940"/>
            <a:ext cx="8243570" cy="11068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200" dirty="0">
                <a:solidFill>
                  <a:schemeClr val="bg1"/>
                </a:solidFill>
              </a:rPr>
              <a:t>Триггеры - автоматически выполняемые процедуры, активируемые при наступлении определенных событий (INSERT, UPDATE, DELETE) с таблицами.</a:t>
            </a:r>
            <a:endParaRPr lang="ru-RU" sz="2200" b="1" dirty="0">
              <a:solidFill>
                <a:schemeClr val="bg1"/>
              </a:solidFill>
              <a:latin typeface="quote-cjk-patch"/>
            </a:endParaRPr>
          </a:p>
        </p:txBody>
      </p:sp>
      <p:sp>
        <p:nvSpPr>
          <p:cNvPr id="19" name="Прямоугольник 18"/>
          <p:cNvSpPr/>
          <p:nvPr/>
        </p:nvSpPr>
        <p:spPr>
          <a:xfrm>
            <a:off x="179055" y="5127671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Триггер BEFORE INSERT для проверки </a:t>
            </a:r>
            <a:r>
              <a:rPr lang="ru-RU" dirty="0" err="1" smtClean="0">
                <a:solidFill>
                  <a:schemeClr val="bg1"/>
                </a:solidFill>
              </a:rPr>
              <a:t>email</a:t>
            </a:r>
            <a:r>
              <a:rPr lang="ru-RU" dirty="0" smtClean="0">
                <a:solidFill>
                  <a:schemeClr val="bg1"/>
                </a:solidFill>
              </a:rPr>
              <a:t> преподавателя</a:t>
            </a:r>
            <a:endParaRPr lang="ru-RU" dirty="0" smtClean="0">
              <a:solidFill>
                <a:schemeClr val="bg1"/>
              </a:solidFill>
            </a:endParaRPr>
          </a:p>
          <a:p>
            <a:r>
              <a:rPr lang="ru-RU" dirty="0" smtClean="0">
                <a:solidFill>
                  <a:schemeClr val="bg1"/>
                </a:solidFill>
              </a:rPr>
              <a:t>Проверяет </a:t>
            </a:r>
            <a:r>
              <a:rPr lang="ru-RU" dirty="0" err="1" smtClean="0">
                <a:solidFill>
                  <a:schemeClr val="bg1"/>
                </a:solidFill>
              </a:rPr>
              <a:t>email</a:t>
            </a:r>
            <a:r>
              <a:rPr lang="ru-RU" dirty="0" smtClean="0">
                <a:solidFill>
                  <a:schemeClr val="bg1"/>
                </a:solidFill>
              </a:rPr>
              <a:t> преподавателя при добавлении</a:t>
            </a:r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28" name="Рисунок 27"/>
          <p:cNvPicPr/>
          <p:nvPr/>
        </p:nvPicPr>
        <p:blipFill>
          <a:blip r:embed="rId1"/>
          <a:stretch>
            <a:fillRect/>
          </a:stretch>
        </p:blipFill>
        <p:spPr>
          <a:xfrm>
            <a:off x="142179" y="5819364"/>
            <a:ext cx="6169752" cy="269839"/>
          </a:xfrm>
          <a:prstGeom prst="rect">
            <a:avLst/>
          </a:prstGeom>
        </p:spPr>
      </p:pic>
      <p:sp>
        <p:nvSpPr>
          <p:cNvPr id="20" name="Прямоугольник 19"/>
          <p:cNvSpPr/>
          <p:nvPr/>
        </p:nvSpPr>
        <p:spPr>
          <a:xfrm>
            <a:off x="142179" y="1758322"/>
            <a:ext cx="6096000" cy="3323987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500" i="1" dirty="0" smtClean="0">
                <a:solidFill>
                  <a:srgbClr val="00FFFF"/>
                </a:solidFill>
                <a:latin typeface="Consolas" panose="020B0609020204030204" pitchFamily="49" charset="0"/>
              </a:rPr>
              <a:t>CREATE TRIGGER </a:t>
            </a:r>
            <a:r>
              <a:rPr lang="en-US" sz="1500" i="1" dirty="0" err="1" smtClean="0">
                <a:solidFill>
                  <a:srgbClr val="00FFFF"/>
                </a:solidFill>
                <a:latin typeface="Consolas" panose="020B0609020204030204" pitchFamily="49" charset="0"/>
              </a:rPr>
              <a:t>before_professor_insert</a:t>
            </a:r>
            <a:endParaRPr lang="en-US" sz="1500" i="1" dirty="0" smtClean="0">
              <a:solidFill>
                <a:srgbClr val="00FFFF"/>
              </a:solidFill>
              <a:latin typeface="Consolas" panose="020B0609020204030204" pitchFamily="49" charset="0"/>
            </a:endParaRPr>
          </a:p>
          <a:p>
            <a:r>
              <a:rPr lang="en-US" sz="1500" i="1" dirty="0" smtClean="0">
                <a:solidFill>
                  <a:srgbClr val="00FFFF"/>
                </a:solidFill>
                <a:latin typeface="Consolas" panose="020B0609020204030204" pitchFamily="49" charset="0"/>
              </a:rPr>
              <a:t>BEFORE INSERT ON Professor</a:t>
            </a:r>
            <a:endParaRPr lang="en-US" sz="1500" i="1" dirty="0" smtClean="0">
              <a:solidFill>
                <a:srgbClr val="00FFFF"/>
              </a:solidFill>
              <a:latin typeface="Consolas" panose="020B0609020204030204" pitchFamily="49" charset="0"/>
            </a:endParaRPr>
          </a:p>
          <a:p>
            <a:r>
              <a:rPr lang="en-US" sz="1500" i="1" dirty="0" smtClean="0">
                <a:solidFill>
                  <a:srgbClr val="00FFFF"/>
                </a:solidFill>
                <a:latin typeface="Consolas" panose="020B0609020204030204" pitchFamily="49" charset="0"/>
              </a:rPr>
              <a:t>FOR EACH ROW</a:t>
            </a:r>
            <a:endParaRPr lang="en-US" sz="1500" i="1" dirty="0" smtClean="0">
              <a:solidFill>
                <a:srgbClr val="00FFFF"/>
              </a:solidFill>
              <a:latin typeface="Consolas" panose="020B0609020204030204" pitchFamily="49" charset="0"/>
            </a:endParaRPr>
          </a:p>
          <a:p>
            <a:r>
              <a:rPr lang="en-US" sz="1500" i="1" dirty="0" smtClean="0">
                <a:solidFill>
                  <a:srgbClr val="00FFFF"/>
                </a:solidFill>
                <a:latin typeface="Consolas" panose="020B0609020204030204" pitchFamily="49" charset="0"/>
              </a:rPr>
              <a:t>BEGIN</a:t>
            </a:r>
            <a:endParaRPr lang="en-US" sz="1500" i="1" dirty="0" smtClean="0">
              <a:solidFill>
                <a:srgbClr val="00FFFF"/>
              </a:solidFill>
              <a:latin typeface="Consolas" panose="020B0609020204030204" pitchFamily="49" charset="0"/>
            </a:endParaRPr>
          </a:p>
          <a:p>
            <a:r>
              <a:rPr lang="en-US" sz="1500" i="1" dirty="0" smtClean="0">
                <a:solidFill>
                  <a:srgbClr val="00FFFF"/>
                </a:solidFill>
                <a:latin typeface="Consolas" panose="020B0609020204030204" pitchFamily="49" charset="0"/>
              </a:rPr>
              <a:t>    IF </a:t>
            </a:r>
            <a:r>
              <a:rPr lang="en-US" sz="1500" i="1" dirty="0" err="1" smtClean="0">
                <a:solidFill>
                  <a:srgbClr val="00FFFF"/>
                </a:solidFill>
                <a:latin typeface="Consolas" panose="020B0609020204030204" pitchFamily="49" charset="0"/>
              </a:rPr>
              <a:t>NEW.email</a:t>
            </a:r>
            <a:r>
              <a:rPr lang="en-US" sz="1500" i="1" dirty="0" smtClean="0">
                <a:solidFill>
                  <a:srgbClr val="00FFFF"/>
                </a:solidFill>
                <a:latin typeface="Consolas" panose="020B0609020204030204" pitchFamily="49" charset="0"/>
              </a:rPr>
              <a:t> IS NOT NULL AND </a:t>
            </a:r>
            <a:r>
              <a:rPr lang="en-US" sz="1500" i="1" dirty="0" err="1" smtClean="0">
                <a:solidFill>
                  <a:srgbClr val="00FFFF"/>
                </a:solidFill>
                <a:latin typeface="Consolas" panose="020B0609020204030204" pitchFamily="49" charset="0"/>
              </a:rPr>
              <a:t>NEW.email</a:t>
            </a:r>
            <a:r>
              <a:rPr lang="en-US" sz="1500" i="1" dirty="0" smtClean="0">
                <a:solidFill>
                  <a:srgbClr val="00FFFF"/>
                </a:solidFill>
                <a:latin typeface="Consolas" panose="020B0609020204030204" pitchFamily="49" charset="0"/>
              </a:rPr>
              <a:t> NOT LIKE '%@%' THEN</a:t>
            </a:r>
            <a:endParaRPr lang="en-US" sz="1500" i="1" dirty="0" smtClean="0">
              <a:solidFill>
                <a:srgbClr val="00FFFF"/>
              </a:solidFill>
              <a:latin typeface="Consolas" panose="020B0609020204030204" pitchFamily="49" charset="0"/>
            </a:endParaRPr>
          </a:p>
          <a:p>
            <a:r>
              <a:rPr lang="en-US" sz="1500" i="1" dirty="0" smtClean="0">
                <a:solidFill>
                  <a:srgbClr val="00FFFF"/>
                </a:solidFill>
                <a:latin typeface="Consolas" panose="020B0609020204030204" pitchFamily="49" charset="0"/>
              </a:rPr>
              <a:t>        SIGNAL SQLSTATE '45000' </a:t>
            </a:r>
            <a:endParaRPr lang="en-US" sz="1500" i="1" dirty="0" smtClean="0">
              <a:solidFill>
                <a:srgbClr val="00FFFF"/>
              </a:solidFill>
              <a:latin typeface="Consolas" panose="020B0609020204030204" pitchFamily="49" charset="0"/>
            </a:endParaRPr>
          </a:p>
          <a:p>
            <a:r>
              <a:rPr lang="en-US" sz="1500" i="1" dirty="0" smtClean="0">
                <a:solidFill>
                  <a:srgbClr val="00FFFF"/>
                </a:solidFill>
                <a:latin typeface="Consolas" panose="020B0609020204030204" pitchFamily="49" charset="0"/>
              </a:rPr>
              <a:t>        SET MESSAGE_TEXT = 'Email </a:t>
            </a:r>
            <a:r>
              <a:rPr lang="ru-RU" sz="1500" i="1" dirty="0" smtClean="0">
                <a:solidFill>
                  <a:srgbClr val="00FFFF"/>
                </a:solidFill>
                <a:latin typeface="Consolas" panose="020B0609020204030204" pitchFamily="49" charset="0"/>
              </a:rPr>
              <a:t>преподавателя должен содержать @';</a:t>
            </a:r>
            <a:endParaRPr lang="ru-RU" sz="1500" i="1" dirty="0" smtClean="0">
              <a:solidFill>
                <a:srgbClr val="00FFFF"/>
              </a:solidFill>
              <a:latin typeface="Consolas" panose="020B0609020204030204" pitchFamily="49" charset="0"/>
            </a:endParaRPr>
          </a:p>
          <a:p>
            <a:r>
              <a:rPr lang="ru-RU" sz="1500" i="1" dirty="0" smtClean="0">
                <a:solidFill>
                  <a:srgbClr val="00FFFF"/>
                </a:solidFill>
                <a:latin typeface="Consolas" panose="020B0609020204030204" pitchFamily="49" charset="0"/>
              </a:rPr>
              <a:t>    </a:t>
            </a:r>
            <a:r>
              <a:rPr lang="en-US" sz="1500" i="1" dirty="0" smtClean="0">
                <a:solidFill>
                  <a:srgbClr val="00FFFF"/>
                </a:solidFill>
                <a:latin typeface="Consolas" panose="020B0609020204030204" pitchFamily="49" charset="0"/>
              </a:rPr>
              <a:t>END IF;</a:t>
            </a:r>
            <a:endParaRPr lang="en-US" sz="1500" i="1" dirty="0" smtClean="0">
              <a:solidFill>
                <a:srgbClr val="00FFFF"/>
              </a:solidFill>
              <a:latin typeface="Consolas" panose="020B0609020204030204" pitchFamily="49" charset="0"/>
            </a:endParaRPr>
          </a:p>
          <a:p>
            <a:r>
              <a:rPr lang="en-US" sz="1500" i="1" dirty="0" smtClean="0">
                <a:solidFill>
                  <a:srgbClr val="00FFFF"/>
                </a:solidFill>
                <a:latin typeface="Consolas" panose="020B0609020204030204" pitchFamily="49" charset="0"/>
              </a:rPr>
              <a:t>END//</a:t>
            </a:r>
            <a:endParaRPr lang="en-US" sz="1500" i="1" dirty="0" smtClean="0">
              <a:solidFill>
                <a:srgbClr val="00FFFF"/>
              </a:solidFill>
              <a:latin typeface="Consolas" panose="020B0609020204030204" pitchFamily="49" charset="0"/>
            </a:endParaRPr>
          </a:p>
          <a:p>
            <a:endParaRPr lang="en-US" sz="1500" i="1" dirty="0" smtClean="0">
              <a:solidFill>
                <a:srgbClr val="00FFFF"/>
              </a:solidFill>
              <a:latin typeface="Consolas" panose="020B0609020204030204" pitchFamily="49" charset="0"/>
            </a:endParaRPr>
          </a:p>
          <a:p>
            <a:r>
              <a:rPr lang="en-US" sz="1500" i="1" dirty="0" smtClean="0">
                <a:solidFill>
                  <a:srgbClr val="00FFFF"/>
                </a:solidFill>
                <a:latin typeface="Consolas" panose="020B0609020204030204" pitchFamily="49" charset="0"/>
              </a:rPr>
              <a:t>INSERT INTO Professor (</a:t>
            </a:r>
            <a:r>
              <a:rPr lang="en-US" sz="1500" i="1" dirty="0" err="1" smtClean="0">
                <a:solidFill>
                  <a:srgbClr val="00FFFF"/>
                </a:solidFill>
                <a:latin typeface="Consolas" panose="020B0609020204030204" pitchFamily="49" charset="0"/>
              </a:rPr>
              <a:t>full_name</a:t>
            </a:r>
            <a:r>
              <a:rPr lang="en-US" sz="1500" i="1" dirty="0" smtClean="0">
                <a:solidFill>
                  <a:srgbClr val="00FFFF"/>
                </a:solidFill>
                <a:latin typeface="Consolas" panose="020B0609020204030204" pitchFamily="49" charset="0"/>
              </a:rPr>
              <a:t>, email) </a:t>
            </a:r>
            <a:endParaRPr lang="en-US" sz="1500" i="1" dirty="0" smtClean="0">
              <a:solidFill>
                <a:srgbClr val="00FFFF"/>
              </a:solidFill>
              <a:latin typeface="Consolas" panose="020B0609020204030204" pitchFamily="49" charset="0"/>
            </a:endParaRPr>
          </a:p>
          <a:p>
            <a:r>
              <a:rPr lang="en-US" sz="1500" i="1" dirty="0" smtClean="0">
                <a:solidFill>
                  <a:srgbClr val="00FFFF"/>
                </a:solidFill>
                <a:latin typeface="Consolas" panose="020B0609020204030204" pitchFamily="49" charset="0"/>
              </a:rPr>
              <a:t>VALUES ('</a:t>
            </a:r>
            <a:r>
              <a:rPr lang="ru-RU" sz="1500" i="1" dirty="0" smtClean="0">
                <a:solidFill>
                  <a:srgbClr val="00FFFF"/>
                </a:solidFill>
                <a:latin typeface="Consolas" panose="020B0609020204030204" pitchFamily="49" charset="0"/>
              </a:rPr>
              <a:t>Тестовый Преподаватель', '</a:t>
            </a:r>
            <a:r>
              <a:rPr lang="en-US" sz="1500" i="1" dirty="0" smtClean="0">
                <a:solidFill>
                  <a:srgbClr val="00FFFF"/>
                </a:solidFill>
                <a:latin typeface="Consolas" panose="020B0609020204030204" pitchFamily="49" charset="0"/>
              </a:rPr>
              <a:t>invalid-email');</a:t>
            </a:r>
            <a:endParaRPr lang="en-US" sz="1500" i="1" dirty="0">
              <a:solidFill>
                <a:srgbClr val="00FFFF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Текстовое поле 4">
            <a:hlinkClick r:id="rId2" action="ppaction://hlinksldjump"/>
          </p:cNvPr>
          <p:cNvSpPr txBox="1"/>
          <p:nvPr/>
        </p:nvSpPr>
        <p:spPr>
          <a:xfrm>
            <a:off x="10215880" y="208280"/>
            <a:ext cx="1758315" cy="4298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ru-RU" altLang="en-US" sz="2200" dirty="0" smtClean="0">
                <a:solidFill>
                  <a:schemeClr val="bg1"/>
                </a:solidFill>
                <a:effectLst/>
                <a:latin typeface="quote-cjk-patch"/>
                <a:sym typeface="+mn-ea"/>
              </a:rPr>
              <a:t>Оглавление</a:t>
            </a:r>
            <a:endParaRPr lang="ru-RU" altLang="en-US" sz="2200" dirty="0" smtClean="0">
              <a:solidFill>
                <a:schemeClr val="bg1"/>
              </a:solidFill>
              <a:effectLst/>
              <a:latin typeface="quote-cjk-patch"/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070C0"/>
            </a:gs>
            <a:gs pos="100000">
              <a:srgbClr val="00B0F0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0" y="98900"/>
            <a:ext cx="12192000" cy="645368"/>
          </a:xfrm>
        </p:spPr>
        <p:txBody>
          <a:bodyPr>
            <a:normAutofit fontScale="90000"/>
          </a:bodyPr>
          <a:lstStyle/>
          <a:p>
            <a:pPr algn="l"/>
            <a:r>
              <a:rPr lang="ru-RU" sz="4000" dirty="0" smtClean="0">
                <a:solidFill>
                  <a:schemeClr val="bg1"/>
                </a:solidFill>
              </a:rPr>
              <a:t>Работа с пользователями и исключениями</a:t>
            </a:r>
            <a:endParaRPr lang="ru-RU" sz="4000" dirty="0">
              <a:solidFill>
                <a:schemeClr val="bg1"/>
              </a:solidFill>
            </a:endParaRPr>
          </a:p>
        </p:txBody>
      </p:sp>
      <p:sp>
        <p:nvSpPr>
          <p:cNvPr id="19" name="Прямоугольник 18"/>
          <p:cNvSpPr/>
          <p:nvPr/>
        </p:nvSpPr>
        <p:spPr>
          <a:xfrm>
            <a:off x="179055" y="5127671"/>
            <a:ext cx="6096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Обработка ошибки при удалении несуществующей БД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142179" y="894722"/>
            <a:ext cx="6096000" cy="3093154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500" i="1" dirty="0" smtClean="0">
                <a:solidFill>
                  <a:srgbClr val="00FFFF"/>
                </a:solidFill>
                <a:latin typeface="Consolas" panose="020B0609020204030204" pitchFamily="49" charset="0"/>
              </a:rPr>
              <a:t>CREATE PROCEDURE 5_Drop_BD_MonitoringSystem()</a:t>
            </a:r>
            <a:endParaRPr lang="en-US" sz="1500" i="1" dirty="0" smtClean="0">
              <a:solidFill>
                <a:srgbClr val="00FFFF"/>
              </a:solidFill>
              <a:latin typeface="Consolas" panose="020B0609020204030204" pitchFamily="49" charset="0"/>
            </a:endParaRPr>
          </a:p>
          <a:p>
            <a:r>
              <a:rPr lang="en-US" sz="1500" i="1" dirty="0" smtClean="0">
                <a:solidFill>
                  <a:srgbClr val="00FFFF"/>
                </a:solidFill>
                <a:latin typeface="Consolas" panose="020B0609020204030204" pitchFamily="49" charset="0"/>
              </a:rPr>
              <a:t>BEGIN</a:t>
            </a:r>
            <a:endParaRPr lang="en-US" sz="1500" i="1" dirty="0" smtClean="0">
              <a:solidFill>
                <a:srgbClr val="00FFFF"/>
              </a:solidFill>
              <a:latin typeface="Consolas" panose="020B0609020204030204" pitchFamily="49" charset="0"/>
            </a:endParaRPr>
          </a:p>
          <a:p>
            <a:r>
              <a:rPr lang="en-US" sz="1500" i="1" dirty="0" smtClean="0">
                <a:solidFill>
                  <a:srgbClr val="00FFFF"/>
                </a:solidFill>
                <a:latin typeface="Consolas" panose="020B0609020204030204" pitchFamily="49" charset="0"/>
              </a:rPr>
              <a:t>    DECLARE EXIT HANDLER FOR 1008</a:t>
            </a:r>
            <a:endParaRPr lang="en-US" sz="1500" i="1" dirty="0" smtClean="0">
              <a:solidFill>
                <a:srgbClr val="00FFFF"/>
              </a:solidFill>
              <a:latin typeface="Consolas" panose="020B0609020204030204" pitchFamily="49" charset="0"/>
            </a:endParaRPr>
          </a:p>
          <a:p>
            <a:r>
              <a:rPr lang="en-US" sz="1500" i="1" dirty="0" smtClean="0">
                <a:solidFill>
                  <a:srgbClr val="00FFFF"/>
                </a:solidFill>
                <a:latin typeface="Consolas" panose="020B0609020204030204" pitchFamily="49" charset="0"/>
              </a:rPr>
              <a:t>    BEGIN</a:t>
            </a:r>
            <a:endParaRPr lang="en-US" sz="1500" i="1" dirty="0" smtClean="0">
              <a:solidFill>
                <a:srgbClr val="00FFFF"/>
              </a:solidFill>
              <a:latin typeface="Consolas" panose="020B0609020204030204" pitchFamily="49" charset="0"/>
            </a:endParaRPr>
          </a:p>
          <a:p>
            <a:r>
              <a:rPr lang="en-US" sz="1500" i="1" dirty="0" smtClean="0">
                <a:solidFill>
                  <a:srgbClr val="00FFFF"/>
                </a:solidFill>
                <a:latin typeface="Consolas" panose="020B0609020204030204" pitchFamily="49" charset="0"/>
              </a:rPr>
              <a:t>        SELECT '</a:t>
            </a:r>
            <a:r>
              <a:rPr lang="ru-RU" sz="1500" i="1" dirty="0" smtClean="0">
                <a:solidFill>
                  <a:srgbClr val="00FFFF"/>
                </a:solidFill>
                <a:latin typeface="Consolas" panose="020B0609020204030204" pitchFamily="49" charset="0"/>
              </a:rPr>
              <a:t>База данных </a:t>
            </a:r>
            <a:r>
              <a:rPr lang="en-US" sz="1500" i="1" dirty="0" err="1" smtClean="0">
                <a:solidFill>
                  <a:srgbClr val="00FFFF"/>
                </a:solidFill>
                <a:latin typeface="Consolas" panose="020B0609020204030204" pitchFamily="49" charset="0"/>
              </a:rPr>
              <a:t>MonitoringSystem</a:t>
            </a:r>
            <a:r>
              <a:rPr lang="en-US" sz="1500" i="1" dirty="0" smtClean="0">
                <a:solidFill>
                  <a:srgbClr val="00FFFF"/>
                </a:solidFill>
                <a:latin typeface="Consolas" panose="020B0609020204030204" pitchFamily="49" charset="0"/>
              </a:rPr>
              <a:t> </a:t>
            </a:r>
            <a:r>
              <a:rPr lang="ru-RU" sz="1500" i="1" dirty="0" smtClean="0">
                <a:solidFill>
                  <a:srgbClr val="00FFFF"/>
                </a:solidFill>
                <a:latin typeface="Consolas" panose="020B0609020204030204" pitchFamily="49" charset="0"/>
              </a:rPr>
              <a:t>не существует' </a:t>
            </a:r>
            <a:r>
              <a:rPr lang="en-US" sz="1500" i="1" dirty="0" smtClean="0">
                <a:solidFill>
                  <a:srgbClr val="00FFFF"/>
                </a:solidFill>
                <a:latin typeface="Consolas" panose="020B0609020204030204" pitchFamily="49" charset="0"/>
              </a:rPr>
              <a:t>AS '</a:t>
            </a:r>
            <a:r>
              <a:rPr lang="ru-RU" sz="1500" i="1" dirty="0" smtClean="0">
                <a:solidFill>
                  <a:srgbClr val="00FFFF"/>
                </a:solidFill>
                <a:latin typeface="Consolas" panose="020B0609020204030204" pitchFamily="49" charset="0"/>
              </a:rPr>
              <a:t>Ошибка';</a:t>
            </a:r>
            <a:endParaRPr lang="ru-RU" sz="1500" i="1" dirty="0" smtClean="0">
              <a:solidFill>
                <a:srgbClr val="00FFFF"/>
              </a:solidFill>
              <a:latin typeface="Consolas" panose="020B0609020204030204" pitchFamily="49" charset="0"/>
            </a:endParaRPr>
          </a:p>
          <a:p>
            <a:r>
              <a:rPr lang="ru-RU" sz="1500" i="1" dirty="0" smtClean="0">
                <a:solidFill>
                  <a:srgbClr val="00FFFF"/>
                </a:solidFill>
                <a:latin typeface="Consolas" panose="020B0609020204030204" pitchFamily="49" charset="0"/>
              </a:rPr>
              <a:t>    </a:t>
            </a:r>
            <a:r>
              <a:rPr lang="en-US" sz="1500" i="1" dirty="0" smtClean="0">
                <a:solidFill>
                  <a:srgbClr val="00FFFF"/>
                </a:solidFill>
                <a:latin typeface="Consolas" panose="020B0609020204030204" pitchFamily="49" charset="0"/>
              </a:rPr>
              <a:t>END;</a:t>
            </a:r>
            <a:endParaRPr lang="en-US" sz="1500" i="1" dirty="0" smtClean="0">
              <a:solidFill>
                <a:srgbClr val="00FFFF"/>
              </a:solidFill>
              <a:latin typeface="Consolas" panose="020B0609020204030204" pitchFamily="49" charset="0"/>
            </a:endParaRPr>
          </a:p>
          <a:p>
            <a:r>
              <a:rPr lang="en-US" sz="1500" i="1" dirty="0" smtClean="0">
                <a:solidFill>
                  <a:srgbClr val="00FFFF"/>
                </a:solidFill>
                <a:latin typeface="Consolas" panose="020B0609020204030204" pitchFamily="49" charset="0"/>
              </a:rPr>
              <a:t>    </a:t>
            </a:r>
            <a:endParaRPr lang="en-US" sz="1500" i="1" dirty="0" smtClean="0">
              <a:solidFill>
                <a:srgbClr val="00FFFF"/>
              </a:solidFill>
              <a:latin typeface="Consolas" panose="020B0609020204030204" pitchFamily="49" charset="0"/>
            </a:endParaRPr>
          </a:p>
          <a:p>
            <a:r>
              <a:rPr lang="en-US" sz="1500" i="1" dirty="0" smtClean="0">
                <a:solidFill>
                  <a:srgbClr val="00FFFF"/>
                </a:solidFill>
                <a:latin typeface="Consolas" panose="020B0609020204030204" pitchFamily="49" charset="0"/>
              </a:rPr>
              <a:t>    DROP DATABASE </a:t>
            </a:r>
            <a:r>
              <a:rPr lang="en-US" sz="1500" i="1" dirty="0" err="1" smtClean="0">
                <a:solidFill>
                  <a:srgbClr val="00FFFF"/>
                </a:solidFill>
                <a:latin typeface="Consolas" panose="020B0609020204030204" pitchFamily="49" charset="0"/>
              </a:rPr>
              <a:t>MonitoringSystem</a:t>
            </a:r>
            <a:r>
              <a:rPr lang="en-US" sz="1500" i="1" dirty="0" smtClean="0">
                <a:solidFill>
                  <a:srgbClr val="00FFFF"/>
                </a:solidFill>
                <a:latin typeface="Consolas" panose="020B0609020204030204" pitchFamily="49" charset="0"/>
              </a:rPr>
              <a:t>;</a:t>
            </a:r>
            <a:endParaRPr lang="en-US" sz="1500" i="1" dirty="0" smtClean="0">
              <a:solidFill>
                <a:srgbClr val="00FFFF"/>
              </a:solidFill>
              <a:latin typeface="Consolas" panose="020B0609020204030204" pitchFamily="49" charset="0"/>
            </a:endParaRPr>
          </a:p>
          <a:p>
            <a:r>
              <a:rPr lang="en-US" sz="1500" i="1" dirty="0" smtClean="0">
                <a:solidFill>
                  <a:srgbClr val="00FFFF"/>
                </a:solidFill>
                <a:latin typeface="Consolas" panose="020B0609020204030204" pitchFamily="49" charset="0"/>
              </a:rPr>
              <a:t>END//</a:t>
            </a:r>
            <a:endParaRPr lang="en-US" sz="1500" i="1" dirty="0" smtClean="0">
              <a:solidFill>
                <a:srgbClr val="00FFFF"/>
              </a:solidFill>
              <a:latin typeface="Consolas" panose="020B0609020204030204" pitchFamily="49" charset="0"/>
            </a:endParaRPr>
          </a:p>
          <a:p>
            <a:endParaRPr lang="en-US" sz="1500" i="1" dirty="0" smtClean="0">
              <a:solidFill>
                <a:srgbClr val="00FFFF"/>
              </a:solidFill>
              <a:latin typeface="Consolas" panose="020B0609020204030204" pitchFamily="49" charset="0"/>
            </a:endParaRPr>
          </a:p>
          <a:p>
            <a:r>
              <a:rPr lang="en-US" sz="1500" i="1" dirty="0" smtClean="0">
                <a:solidFill>
                  <a:srgbClr val="00FFFF"/>
                </a:solidFill>
                <a:latin typeface="Consolas" panose="020B0609020204030204" pitchFamily="49" charset="0"/>
              </a:rPr>
              <a:t>DELIMITER ;</a:t>
            </a:r>
            <a:endParaRPr lang="en-US" sz="1500" i="1" dirty="0" smtClean="0">
              <a:solidFill>
                <a:srgbClr val="00FFFF"/>
              </a:solidFill>
              <a:latin typeface="Consolas" panose="020B0609020204030204" pitchFamily="49" charset="0"/>
            </a:endParaRPr>
          </a:p>
          <a:p>
            <a:r>
              <a:rPr lang="en-US" sz="1500" i="1" dirty="0" smtClean="0">
                <a:solidFill>
                  <a:srgbClr val="00FFFF"/>
                </a:solidFill>
                <a:latin typeface="Consolas" panose="020B0609020204030204" pitchFamily="49" charset="0"/>
              </a:rPr>
              <a:t>CALL 5_Drop_BD('</a:t>
            </a:r>
            <a:r>
              <a:rPr lang="en-US" sz="1500" i="1" dirty="0" err="1" smtClean="0">
                <a:solidFill>
                  <a:srgbClr val="00FFFF"/>
                </a:solidFill>
                <a:latin typeface="Consolas" panose="020B0609020204030204" pitchFamily="49" charset="0"/>
              </a:rPr>
              <a:t>NonExistentDatabase</a:t>
            </a:r>
            <a:r>
              <a:rPr lang="en-US" sz="1500" i="1" dirty="0" smtClean="0">
                <a:solidFill>
                  <a:srgbClr val="00FFFF"/>
                </a:solidFill>
                <a:latin typeface="Consolas" panose="020B0609020204030204" pitchFamily="49" charset="0"/>
              </a:rPr>
              <a:t>');</a:t>
            </a:r>
            <a:endParaRPr lang="en-US" sz="1500" i="1" dirty="0">
              <a:solidFill>
                <a:srgbClr val="00FFFF"/>
              </a:solidFill>
              <a:latin typeface="Consolas" panose="020B0609020204030204" pitchFamily="49" charset="0"/>
            </a:endParaRPr>
          </a:p>
        </p:txBody>
      </p:sp>
      <p:pic>
        <p:nvPicPr>
          <p:cNvPr id="8" name="Рисунок 7"/>
          <p:cNvPicPr/>
          <p:nvPr/>
        </p:nvPicPr>
        <p:blipFill>
          <a:blip r:embed="rId1"/>
          <a:stretch>
            <a:fillRect/>
          </a:stretch>
        </p:blipFill>
        <p:spPr>
          <a:xfrm>
            <a:off x="179055" y="5773198"/>
            <a:ext cx="5680569" cy="245047"/>
          </a:xfrm>
          <a:prstGeom prst="rect">
            <a:avLst/>
          </a:prstGeom>
        </p:spPr>
      </p:pic>
      <p:sp>
        <p:nvSpPr>
          <p:cNvPr id="6" name="Текстовое поле 5">
            <a:hlinkClick r:id="rId2" action="ppaction://hlinksldjump"/>
          </p:cNvPr>
          <p:cNvSpPr txBox="1"/>
          <p:nvPr/>
        </p:nvSpPr>
        <p:spPr>
          <a:xfrm>
            <a:off x="10215880" y="208280"/>
            <a:ext cx="1758315" cy="4298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ru-RU" altLang="en-US" sz="2200" dirty="0" smtClean="0">
                <a:solidFill>
                  <a:schemeClr val="bg1"/>
                </a:solidFill>
                <a:effectLst/>
                <a:latin typeface="quote-cjk-patch"/>
                <a:sym typeface="+mn-ea"/>
              </a:rPr>
              <a:t>Оглавление</a:t>
            </a:r>
            <a:endParaRPr lang="ru-RU" altLang="en-US" sz="2200" dirty="0" smtClean="0">
              <a:solidFill>
                <a:schemeClr val="bg1"/>
              </a:solidFill>
              <a:effectLst/>
              <a:latin typeface="quote-cjk-patch"/>
              <a:sym typeface="+mn-ea"/>
            </a:endParaRPr>
          </a:p>
        </p:txBody>
      </p:sp>
      <p:sp>
        <p:nvSpPr>
          <p:cNvPr id="7" name="Текстовое поле 6"/>
          <p:cNvSpPr txBox="1"/>
          <p:nvPr/>
        </p:nvSpPr>
        <p:spPr>
          <a:xfrm>
            <a:off x="6464935" y="744220"/>
            <a:ext cx="5080000" cy="3322955"/>
          </a:xfrm>
          <a:prstGeom prst="rect">
            <a:avLst/>
          </a:prstGeom>
        </p:spPr>
        <p:txBody>
          <a:bodyPr>
            <a:spAutoFit/>
          </a:bodyPr>
          <a:p>
            <a:pPr defTabSz="266700">
              <a:lnSpc>
                <a:spcPct val="100000"/>
              </a:lnSpc>
            </a:pPr>
            <a:r>
              <a:rPr sz="1500" i="1">
                <a:solidFill>
                  <a:srgbClr val="00FFFF"/>
                </a:solidFill>
                <a:latin typeface="Consolas" panose="020B0609020204030204"/>
                <a:ea typeface="Calibri" panose="020F0502020204030204"/>
              </a:rPr>
              <a:t>CREATE USER IF NOT EXISTS 'student_user'@'localhost' IDENTIFIED BY 'student123';</a:t>
            </a:r>
            <a:endParaRPr sz="1500" i="1">
              <a:solidFill>
                <a:srgbClr val="00FFFF"/>
              </a:solidFill>
              <a:latin typeface="Consolas" panose="020B0609020204030204"/>
              <a:ea typeface="Calibri" panose="020F0502020204030204"/>
            </a:endParaRPr>
          </a:p>
          <a:p>
            <a:pPr defTabSz="266700">
              <a:lnSpc>
                <a:spcPct val="100000"/>
              </a:lnSpc>
            </a:pPr>
            <a:r>
              <a:rPr sz="1500" i="1">
                <a:solidFill>
                  <a:srgbClr val="00FFFF"/>
                </a:solidFill>
                <a:latin typeface="Consolas" panose="020B0609020204030204"/>
                <a:ea typeface="Calibri" panose="020F0502020204030204"/>
              </a:rPr>
              <a:t>CREATE USER IF NOT EXISTS 'professor_user'@'localhost' IDENTIFIED BY 'professor123';</a:t>
            </a:r>
            <a:endParaRPr sz="1500" i="1">
              <a:solidFill>
                <a:srgbClr val="00FFFF"/>
              </a:solidFill>
              <a:latin typeface="Consolas" panose="020B0609020204030204"/>
              <a:ea typeface="Calibri" panose="020F0502020204030204"/>
            </a:endParaRPr>
          </a:p>
          <a:p>
            <a:pPr defTabSz="266700">
              <a:lnSpc>
                <a:spcPct val="100000"/>
              </a:lnSpc>
            </a:pPr>
            <a:r>
              <a:rPr sz="1500" i="1">
                <a:solidFill>
                  <a:srgbClr val="00FFFF"/>
                </a:solidFill>
                <a:latin typeface="Consolas" panose="020B0609020204030204"/>
                <a:ea typeface="Calibri" panose="020F0502020204030204"/>
              </a:rPr>
              <a:t>GRANT SELECT ON MonitoringSystem.Faculty TO 'student_user'@'localhost';</a:t>
            </a:r>
            <a:endParaRPr sz="1500" i="1">
              <a:solidFill>
                <a:srgbClr val="00FFFF"/>
              </a:solidFill>
              <a:latin typeface="Consolas" panose="020B0609020204030204"/>
              <a:ea typeface="Calibri" panose="020F0502020204030204"/>
            </a:endParaRPr>
          </a:p>
          <a:p>
            <a:pPr defTabSz="266700">
              <a:lnSpc>
                <a:spcPct val="100000"/>
              </a:lnSpc>
            </a:pPr>
            <a:r>
              <a:rPr sz="1500" i="1">
                <a:solidFill>
                  <a:srgbClr val="00FFFF"/>
                </a:solidFill>
                <a:latin typeface="Consolas" panose="020B0609020204030204"/>
                <a:ea typeface="Calibri" panose="020F0502020204030204"/>
              </a:rPr>
              <a:t>GRANT SELECT ON MonitoringSystem.Department TO 'student_user'@'localhost';</a:t>
            </a:r>
            <a:endParaRPr sz="1500" i="1">
              <a:solidFill>
                <a:srgbClr val="00FFFF"/>
              </a:solidFill>
              <a:latin typeface="Consolas" panose="020B0609020204030204"/>
              <a:ea typeface="Calibri" panose="020F0502020204030204"/>
            </a:endParaRPr>
          </a:p>
          <a:p>
            <a:pPr defTabSz="266700">
              <a:lnSpc>
                <a:spcPct val="100000"/>
              </a:lnSpc>
            </a:pPr>
            <a:r>
              <a:rPr sz="1500" i="1">
                <a:solidFill>
                  <a:srgbClr val="00FFFF"/>
                </a:solidFill>
                <a:latin typeface="Consolas" panose="020B0609020204030204"/>
                <a:ea typeface="Calibri" panose="020F0502020204030204"/>
              </a:rPr>
              <a:t>GRANT SELECT ON MonitoringSystem.DirectionType TO 'student_user'@'localhost';</a:t>
            </a:r>
            <a:br>
              <a:rPr sz="1500" i="1">
                <a:solidFill>
                  <a:srgbClr val="00FFFF"/>
                </a:solidFill>
                <a:latin typeface="Consolas" panose="020B0609020204030204"/>
                <a:ea typeface="Calibri" panose="020F0502020204030204"/>
              </a:rPr>
            </a:br>
            <a:r>
              <a:rPr lang="ru-RU" sz="1500" i="1">
                <a:solidFill>
                  <a:srgbClr val="00FFFF"/>
                </a:solidFill>
                <a:latin typeface="Consolas" panose="020B0609020204030204"/>
                <a:ea typeface="Calibri" panose="020F0502020204030204"/>
              </a:rPr>
              <a:t>...</a:t>
            </a:r>
            <a:endParaRPr sz="1500" i="1">
              <a:solidFill>
                <a:srgbClr val="00FFFF"/>
              </a:solidFill>
              <a:latin typeface="Consolas" panose="020B0609020204030204"/>
              <a:ea typeface="Calibri" panose="020F0502020204030204"/>
            </a:endParaRPr>
          </a:p>
          <a:p>
            <a:pPr defTabSz="266700">
              <a:lnSpc>
                <a:spcPct val="100000"/>
              </a:lnSpc>
            </a:pPr>
            <a:endParaRPr sz="1500" i="1">
              <a:solidFill>
                <a:srgbClr val="00FFFF"/>
              </a:solidFill>
              <a:latin typeface="Consolas" panose="020B0609020204030204"/>
              <a:ea typeface="Calibri" panose="020F0502020204030204"/>
            </a:endParaRPr>
          </a:p>
        </p:txBody>
      </p:sp>
      <p:pic>
        <p:nvPicPr>
          <p:cNvPr id="63" name="Рисунок 63"/>
          <p:cNvPicPr>
            <a:picLocks noChangeAspect="1"/>
          </p:cNvPicPr>
          <p:nvPr/>
        </p:nvPicPr>
        <p:blipFill>
          <a:blip r:embed="rId3"/>
          <a:srcRect t="85398"/>
          <a:stretch>
            <a:fillRect/>
          </a:stretch>
        </p:blipFill>
        <p:spPr>
          <a:xfrm>
            <a:off x="4990465" y="3918585"/>
            <a:ext cx="6983730" cy="57213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070C0"/>
            </a:gs>
            <a:gs pos="100000">
              <a:srgbClr val="00B0F0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0" y="98900"/>
            <a:ext cx="12192000" cy="645368"/>
          </a:xfrm>
        </p:spPr>
        <p:txBody>
          <a:bodyPr>
            <a:normAutofit fontScale="90000"/>
          </a:bodyPr>
          <a:lstStyle/>
          <a:p>
            <a:pPr algn="l"/>
            <a:r>
              <a:rPr lang="ru-RU" sz="4000" dirty="0" smtClean="0">
                <a:solidFill>
                  <a:schemeClr val="bg1"/>
                </a:solidFill>
              </a:rPr>
              <a:t>Проектирование и разработка </a:t>
            </a:r>
            <a:r>
              <a:rPr lang="ru-RU" sz="4000" dirty="0" err="1" smtClean="0">
                <a:solidFill>
                  <a:schemeClr val="bg1"/>
                </a:solidFill>
              </a:rPr>
              <a:t>графовой</a:t>
            </a:r>
            <a:r>
              <a:rPr lang="ru-RU" sz="4000" dirty="0" smtClean="0">
                <a:solidFill>
                  <a:schemeClr val="bg1"/>
                </a:solidFill>
              </a:rPr>
              <a:t> БД</a:t>
            </a:r>
            <a:endParaRPr lang="ru-RU" sz="4000" dirty="0">
              <a:solidFill>
                <a:schemeClr val="bg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861" y="789630"/>
            <a:ext cx="6774024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dirty="0">
                <a:solidFill>
                  <a:schemeClr val="bg1"/>
                </a:solidFill>
              </a:rPr>
              <a:t>Neo4j — самая популярная </a:t>
            </a:r>
            <a:r>
              <a:rPr lang="ru-RU" dirty="0" err="1">
                <a:solidFill>
                  <a:schemeClr val="bg1"/>
                </a:solidFill>
              </a:rPr>
              <a:t>графовая</a:t>
            </a:r>
            <a:r>
              <a:rPr lang="ru-RU" dirty="0">
                <a:solidFill>
                  <a:schemeClr val="bg1"/>
                </a:solidFill>
              </a:rPr>
              <a:t> база данных с открытым исходным кодом, разработанная компанией Neo4j, </a:t>
            </a:r>
            <a:r>
              <a:rPr lang="ru-RU" dirty="0" err="1">
                <a:solidFill>
                  <a:schemeClr val="bg1"/>
                </a:solidFill>
              </a:rPr>
              <a:t>Inc</a:t>
            </a:r>
            <a:r>
              <a:rPr lang="ru-RU" dirty="0">
                <a:solidFill>
                  <a:schemeClr val="bg1"/>
                </a:solidFill>
              </a:rPr>
              <a:t>.</a:t>
            </a:r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4" name="Рисунок 3"/>
          <p:cNvPicPr/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23943" y="1748529"/>
            <a:ext cx="6510592" cy="3909887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Текстовое поле 5">
            <a:hlinkClick r:id="rId2" action="ppaction://hlinksldjump"/>
          </p:cNvPr>
          <p:cNvSpPr txBox="1"/>
          <p:nvPr/>
        </p:nvSpPr>
        <p:spPr>
          <a:xfrm>
            <a:off x="10215880" y="208280"/>
            <a:ext cx="1758315" cy="4298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ru-RU" altLang="en-US" sz="2200" dirty="0" smtClean="0">
                <a:solidFill>
                  <a:schemeClr val="bg1"/>
                </a:solidFill>
                <a:effectLst/>
                <a:latin typeface="quote-cjk-patch"/>
                <a:sym typeface="+mn-ea"/>
              </a:rPr>
              <a:t>Оглавление</a:t>
            </a:r>
            <a:endParaRPr lang="ru-RU" altLang="en-US" sz="2200" dirty="0" smtClean="0">
              <a:solidFill>
                <a:schemeClr val="bg1"/>
              </a:solidFill>
              <a:effectLst/>
              <a:latin typeface="quote-cjk-patch"/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070C0"/>
            </a:gs>
            <a:gs pos="100000">
              <a:srgbClr val="00B0F0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0" y="98900"/>
            <a:ext cx="12192000" cy="645368"/>
          </a:xfrm>
        </p:spPr>
        <p:txBody>
          <a:bodyPr>
            <a:normAutofit fontScale="90000"/>
          </a:bodyPr>
          <a:lstStyle/>
          <a:p>
            <a:pPr algn="l"/>
            <a:r>
              <a:rPr lang="ru-RU" sz="4000" dirty="0" smtClean="0">
                <a:solidFill>
                  <a:schemeClr val="bg1"/>
                </a:solidFill>
              </a:rPr>
              <a:t>Запросы к данным</a:t>
            </a:r>
            <a:endParaRPr lang="ru-RU" sz="4000" dirty="0">
              <a:solidFill>
                <a:schemeClr val="bg1"/>
              </a:solidFill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0" y="1474670"/>
            <a:ext cx="4838007" cy="16183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atinLnBrk="1">
              <a:lnSpc>
                <a:spcPts val="1650"/>
              </a:lnSpc>
              <a:spcAft>
                <a:spcPts val="0"/>
              </a:spcAft>
              <a:tabLst>
                <a:tab pos="581660" algn="l"/>
                <a:tab pos="1163320" algn="l"/>
                <a:tab pos="1744980" algn="l"/>
                <a:tab pos="2326640" algn="l"/>
                <a:tab pos="2908300" algn="l"/>
                <a:tab pos="3489960" algn="l"/>
                <a:tab pos="4071620" algn="l"/>
                <a:tab pos="4653280" algn="l"/>
                <a:tab pos="5234940" algn="l"/>
                <a:tab pos="5816600" algn="l"/>
                <a:tab pos="6398260" algn="l"/>
                <a:tab pos="6979920" algn="l"/>
                <a:tab pos="7561580" algn="l"/>
                <a:tab pos="8143240" algn="l"/>
                <a:tab pos="8724900" algn="l"/>
                <a:tab pos="9306560" algn="l"/>
              </a:tabLst>
            </a:pPr>
            <a:r>
              <a:rPr lang="en-US" sz="1500" i="1" kern="100" dirty="0">
                <a:solidFill>
                  <a:srgbClr val="00FFFF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MATCH (</a:t>
            </a:r>
            <a:r>
              <a:rPr lang="en-US" sz="1500" i="1" kern="100" dirty="0" err="1">
                <a:solidFill>
                  <a:srgbClr val="00FFFF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p:Professor</a:t>
            </a:r>
            <a:r>
              <a:rPr lang="en-US" sz="1500" i="1" kern="100" dirty="0">
                <a:solidFill>
                  <a:srgbClr val="00FFFF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)-[</a:t>
            </a:r>
            <a:r>
              <a:rPr lang="en-US" sz="1500" i="1" kern="100" dirty="0" err="1">
                <a:solidFill>
                  <a:srgbClr val="00FFFF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r:LEADS</a:t>
            </a:r>
            <a:r>
              <a:rPr lang="en-US" sz="1500" i="1" kern="100" dirty="0">
                <a:solidFill>
                  <a:srgbClr val="00FFFF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]-&gt;(</a:t>
            </a:r>
            <a:r>
              <a:rPr lang="en-US" sz="1500" i="1" kern="100" dirty="0" err="1">
                <a:solidFill>
                  <a:srgbClr val="00FFFF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rd:ResearchDirection</a:t>
            </a:r>
            <a:r>
              <a:rPr lang="en-US" sz="1500" i="1" kern="100" dirty="0">
                <a:solidFill>
                  <a:srgbClr val="00FFFF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ru-RU" sz="1500" i="1" kern="100" dirty="0">
              <a:solidFill>
                <a:srgbClr val="00FFFF"/>
              </a:solidFill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atinLnBrk="1">
              <a:lnSpc>
                <a:spcPts val="1650"/>
              </a:lnSpc>
              <a:spcAft>
                <a:spcPts val="0"/>
              </a:spcAft>
              <a:tabLst>
                <a:tab pos="581660" algn="l"/>
                <a:tab pos="1163320" algn="l"/>
                <a:tab pos="1744980" algn="l"/>
                <a:tab pos="2326640" algn="l"/>
                <a:tab pos="2908300" algn="l"/>
                <a:tab pos="3489960" algn="l"/>
                <a:tab pos="4071620" algn="l"/>
                <a:tab pos="4653280" algn="l"/>
                <a:tab pos="5234940" algn="l"/>
                <a:tab pos="5816600" algn="l"/>
                <a:tab pos="6398260" algn="l"/>
                <a:tab pos="6979920" algn="l"/>
                <a:tab pos="7561580" algn="l"/>
                <a:tab pos="8143240" algn="l"/>
                <a:tab pos="8724900" algn="l"/>
                <a:tab pos="9306560" algn="l"/>
              </a:tabLst>
            </a:pPr>
            <a:r>
              <a:rPr lang="en-US" sz="1500" i="1" kern="100" dirty="0">
                <a:solidFill>
                  <a:srgbClr val="00FFFF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MATCH (</a:t>
            </a:r>
            <a:r>
              <a:rPr lang="en-US" sz="1500" i="1" kern="100" dirty="0" err="1">
                <a:solidFill>
                  <a:srgbClr val="00FFFF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rd</a:t>
            </a:r>
            <a:r>
              <a:rPr lang="en-US" sz="1500" i="1" kern="100" dirty="0">
                <a:solidFill>
                  <a:srgbClr val="00FFFF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)-[:HAS_TYPE]-&gt;(</a:t>
            </a:r>
            <a:r>
              <a:rPr lang="en-US" sz="1500" i="1" kern="100" dirty="0" err="1">
                <a:solidFill>
                  <a:srgbClr val="00FFFF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dt:DirectionType</a:t>
            </a:r>
            <a:r>
              <a:rPr lang="en-US" sz="1500" i="1" kern="100" dirty="0">
                <a:solidFill>
                  <a:srgbClr val="00FFFF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ru-RU" sz="1500" i="1" kern="100" dirty="0">
              <a:solidFill>
                <a:srgbClr val="00FFFF"/>
              </a:solidFill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atinLnBrk="1">
              <a:lnSpc>
                <a:spcPts val="1650"/>
              </a:lnSpc>
              <a:spcAft>
                <a:spcPts val="0"/>
              </a:spcAft>
              <a:tabLst>
                <a:tab pos="581660" algn="l"/>
                <a:tab pos="1163320" algn="l"/>
                <a:tab pos="1744980" algn="l"/>
                <a:tab pos="2326640" algn="l"/>
                <a:tab pos="2908300" algn="l"/>
                <a:tab pos="3489960" algn="l"/>
                <a:tab pos="4071620" algn="l"/>
                <a:tab pos="4653280" algn="l"/>
                <a:tab pos="5234940" algn="l"/>
                <a:tab pos="5816600" algn="l"/>
                <a:tab pos="6398260" algn="l"/>
                <a:tab pos="6979920" algn="l"/>
                <a:tab pos="7561580" algn="l"/>
                <a:tab pos="8143240" algn="l"/>
                <a:tab pos="8724900" algn="l"/>
                <a:tab pos="9306560" algn="l"/>
              </a:tabLst>
            </a:pPr>
            <a:r>
              <a:rPr lang="en-US" sz="1500" i="1" kern="100" dirty="0">
                <a:solidFill>
                  <a:srgbClr val="00FFFF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RETURN </a:t>
            </a:r>
            <a:r>
              <a:rPr lang="en-US" sz="1500" i="1" kern="100" dirty="0" err="1">
                <a:solidFill>
                  <a:srgbClr val="00FFFF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rd.direction_name</a:t>
            </a:r>
            <a:r>
              <a:rPr lang="en-US" sz="1500" i="1" kern="100" dirty="0">
                <a:solidFill>
                  <a:srgbClr val="00FFFF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as </a:t>
            </a:r>
            <a:r>
              <a:rPr lang="ru-RU" sz="1500" i="1" kern="100" dirty="0">
                <a:solidFill>
                  <a:srgbClr val="00FFFF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Направление</a:t>
            </a:r>
            <a:r>
              <a:rPr lang="en-US" sz="1500" i="1" kern="100" dirty="0">
                <a:solidFill>
                  <a:srgbClr val="00FFFF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500" i="1" kern="100" dirty="0" err="1">
                <a:solidFill>
                  <a:srgbClr val="00FFFF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p.full_name</a:t>
            </a:r>
            <a:r>
              <a:rPr lang="en-US" sz="1500" i="1" kern="100" dirty="0">
                <a:solidFill>
                  <a:srgbClr val="00FFFF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as </a:t>
            </a:r>
            <a:r>
              <a:rPr lang="ru-RU" sz="1500" i="1" kern="100" dirty="0">
                <a:solidFill>
                  <a:srgbClr val="00FFFF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Руководитель</a:t>
            </a:r>
            <a:r>
              <a:rPr lang="en-US" sz="1500" i="1" kern="100" dirty="0">
                <a:solidFill>
                  <a:srgbClr val="00FFFF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500" i="1" kern="100" dirty="0" err="1">
                <a:solidFill>
                  <a:srgbClr val="00FFFF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r.role_in_direction</a:t>
            </a:r>
            <a:r>
              <a:rPr lang="en-US" sz="1500" i="1" kern="100" dirty="0">
                <a:solidFill>
                  <a:srgbClr val="00FFFF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as </a:t>
            </a:r>
            <a:r>
              <a:rPr lang="ru-RU" sz="1500" i="1" kern="100" dirty="0">
                <a:solidFill>
                  <a:srgbClr val="00FFFF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Роль</a:t>
            </a:r>
            <a:r>
              <a:rPr lang="en-US" sz="1500" i="1" kern="100" dirty="0">
                <a:solidFill>
                  <a:srgbClr val="00FFFF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500" i="1" kern="100" dirty="0" err="1">
                <a:solidFill>
                  <a:srgbClr val="00FFFF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dt.type_name</a:t>
            </a:r>
            <a:r>
              <a:rPr lang="en-US" sz="1500" i="1" kern="100" dirty="0">
                <a:solidFill>
                  <a:srgbClr val="00FFFF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as </a:t>
            </a:r>
            <a:r>
              <a:rPr lang="ru-RU" sz="1500" i="1" kern="100" dirty="0">
                <a:solidFill>
                  <a:srgbClr val="00FFFF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Тип</a:t>
            </a:r>
            <a:r>
              <a:rPr lang="en-US" sz="1500" i="1" kern="100" dirty="0">
                <a:solidFill>
                  <a:srgbClr val="00FFFF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_</a:t>
            </a:r>
            <a:r>
              <a:rPr lang="ru-RU" sz="1500" i="1" kern="100" dirty="0">
                <a:solidFill>
                  <a:srgbClr val="00FFFF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направления</a:t>
            </a:r>
            <a:endParaRPr lang="ru-RU" sz="1500" i="1" kern="100" dirty="0">
              <a:solidFill>
                <a:srgbClr val="00FFFF"/>
              </a:solidFill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atinLnBrk="1">
              <a:lnSpc>
                <a:spcPts val="1650"/>
              </a:lnSpc>
              <a:spcAft>
                <a:spcPts val="0"/>
              </a:spcAft>
              <a:tabLst>
                <a:tab pos="581660" algn="l"/>
                <a:tab pos="1163320" algn="l"/>
                <a:tab pos="1744980" algn="l"/>
                <a:tab pos="2326640" algn="l"/>
                <a:tab pos="2908300" algn="l"/>
                <a:tab pos="3489960" algn="l"/>
                <a:tab pos="4071620" algn="l"/>
                <a:tab pos="4653280" algn="l"/>
                <a:tab pos="5234940" algn="l"/>
                <a:tab pos="5816600" algn="l"/>
                <a:tab pos="6398260" algn="l"/>
                <a:tab pos="6979920" algn="l"/>
                <a:tab pos="7561580" algn="l"/>
                <a:tab pos="8143240" algn="l"/>
                <a:tab pos="8724900" algn="l"/>
                <a:tab pos="9306560" algn="l"/>
              </a:tabLst>
            </a:pPr>
            <a:r>
              <a:rPr lang="en-US" sz="1500" i="1" kern="100" dirty="0">
                <a:solidFill>
                  <a:srgbClr val="00FFFF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ORDER BY </a:t>
            </a:r>
            <a:r>
              <a:rPr lang="en-US" sz="1500" i="1" kern="100" dirty="0" err="1">
                <a:solidFill>
                  <a:srgbClr val="00FFFF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rd.direction_name</a:t>
            </a:r>
            <a:r>
              <a:rPr lang="en-US" sz="1500" i="1" kern="100" dirty="0">
                <a:solidFill>
                  <a:srgbClr val="00FFFF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ru-RU" sz="1500" i="1" kern="100" dirty="0">
              <a:solidFill>
                <a:srgbClr val="00FFFF"/>
              </a:solidFill>
              <a:effectLst/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0" y="924803"/>
            <a:ext cx="6096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pPr algn="just"/>
            <a:r>
              <a:rPr lang="ru-RU" b="1" dirty="0" smtClean="0">
                <a:solidFill>
                  <a:schemeClr val="bg1"/>
                </a:solidFill>
              </a:rPr>
              <a:t>Научные направления с руководителями и типами</a:t>
            </a:r>
            <a:endParaRPr lang="ru-RU" b="1" dirty="0">
              <a:solidFill>
                <a:schemeClr val="bg1"/>
              </a:solidFill>
            </a:endParaRPr>
          </a:p>
        </p:txBody>
      </p:sp>
      <p:pic>
        <p:nvPicPr>
          <p:cNvPr id="7" name="Рисунок 6"/>
          <p:cNvPicPr/>
          <p:nvPr/>
        </p:nvPicPr>
        <p:blipFill>
          <a:blip r:embed="rId1"/>
          <a:stretch>
            <a:fillRect/>
          </a:stretch>
        </p:blipFill>
        <p:spPr>
          <a:xfrm>
            <a:off x="137469" y="3273597"/>
            <a:ext cx="5620536" cy="2330498"/>
          </a:xfrm>
          <a:prstGeom prst="rect">
            <a:avLst/>
          </a:prstGeom>
        </p:spPr>
      </p:pic>
      <p:sp>
        <p:nvSpPr>
          <p:cNvPr id="8" name="Прямоугольник 7"/>
          <p:cNvSpPr/>
          <p:nvPr/>
        </p:nvSpPr>
        <p:spPr>
          <a:xfrm>
            <a:off x="5945110" y="1299081"/>
            <a:ext cx="6096000" cy="2812052"/>
          </a:xfrm>
          <a:prstGeom prst="rect">
            <a:avLst/>
          </a:prstGeom>
        </p:spPr>
        <p:txBody>
          <a:bodyPr>
            <a:spAutoFit/>
          </a:bodyPr>
          <a:lstStyle/>
          <a:p>
            <a:pPr indent="449580">
              <a:lnSpc>
                <a:spcPct val="107000"/>
              </a:lnSpc>
              <a:spcAft>
                <a:spcPts val="800"/>
              </a:spcAft>
            </a:pPr>
            <a:r>
              <a:rPr lang="en-US" sz="1500" i="1" kern="100" dirty="0">
                <a:solidFill>
                  <a:srgbClr val="00FF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MATCH (</a:t>
            </a:r>
            <a:r>
              <a:rPr lang="en-US" sz="1500" i="1" kern="100" dirty="0" err="1">
                <a:solidFill>
                  <a:srgbClr val="00FF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s:Student</a:t>
            </a:r>
            <a:r>
              <a:rPr lang="en-US" sz="1500" i="1" kern="100" dirty="0">
                <a:solidFill>
                  <a:srgbClr val="00FF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)-[:HAS_STATUS]-&gt;(</a:t>
            </a:r>
            <a:r>
              <a:rPr lang="en-US" sz="1500" i="1" kern="100" dirty="0" err="1">
                <a:solidFill>
                  <a:srgbClr val="00FF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st:StudentStatus</a:t>
            </a:r>
            <a:r>
              <a:rPr lang="en-US" sz="1500" i="1" kern="100" dirty="0">
                <a:solidFill>
                  <a:srgbClr val="00FF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{</a:t>
            </a:r>
            <a:r>
              <a:rPr lang="en-US" sz="1500" i="1" kern="100" dirty="0" err="1">
                <a:solidFill>
                  <a:srgbClr val="00FF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status_name</a:t>
            </a:r>
            <a:r>
              <a:rPr lang="en-US" sz="1500" i="1" kern="100" dirty="0">
                <a:solidFill>
                  <a:srgbClr val="00FF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: "</a:t>
            </a:r>
            <a:r>
              <a:rPr lang="ru-RU" sz="1500" i="1" kern="100" dirty="0">
                <a:solidFill>
                  <a:srgbClr val="00FF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Активный</a:t>
            </a:r>
            <a:r>
              <a:rPr lang="en-US" sz="1500" i="1" kern="100" dirty="0">
                <a:solidFill>
                  <a:srgbClr val="00FF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"})</a:t>
            </a:r>
            <a:endParaRPr lang="ru-RU" sz="1500" i="1" kern="100" dirty="0">
              <a:solidFill>
                <a:srgbClr val="00FFFF"/>
              </a:solidFill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indent="449580">
              <a:lnSpc>
                <a:spcPct val="107000"/>
              </a:lnSpc>
              <a:spcAft>
                <a:spcPts val="800"/>
              </a:spcAft>
            </a:pPr>
            <a:r>
              <a:rPr lang="en-US" sz="1500" i="1" kern="100" dirty="0">
                <a:solidFill>
                  <a:srgbClr val="00FF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MATCH (s)-[:STUDIES_IN]-&gt;(</a:t>
            </a:r>
            <a:r>
              <a:rPr lang="en-US" sz="1500" i="1" kern="100" dirty="0" err="1">
                <a:solidFill>
                  <a:srgbClr val="00FF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rd:ResearchDirection</a:t>
            </a:r>
            <a:r>
              <a:rPr lang="en-US" sz="1500" i="1" kern="100" dirty="0">
                <a:solidFill>
                  <a:srgbClr val="00FF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</a:t>
            </a:r>
            <a:endParaRPr lang="ru-RU" sz="1500" i="1" kern="100" dirty="0">
              <a:solidFill>
                <a:srgbClr val="00FFFF"/>
              </a:solidFill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indent="449580">
              <a:lnSpc>
                <a:spcPct val="107000"/>
              </a:lnSpc>
              <a:spcAft>
                <a:spcPts val="800"/>
              </a:spcAft>
            </a:pPr>
            <a:r>
              <a:rPr lang="en-US" sz="1500" i="1" kern="100" dirty="0">
                <a:solidFill>
                  <a:srgbClr val="00FF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MATCH (</a:t>
            </a:r>
            <a:r>
              <a:rPr lang="en-US" sz="1500" i="1" kern="100" dirty="0" err="1">
                <a:solidFill>
                  <a:srgbClr val="00FF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rd</a:t>
            </a:r>
            <a:r>
              <a:rPr lang="en-US" sz="1500" i="1" kern="100" dirty="0">
                <a:solidFill>
                  <a:srgbClr val="00FF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)-[:BELONGS_TO_DEPARTMENT]-&gt;(</a:t>
            </a:r>
            <a:r>
              <a:rPr lang="en-US" sz="1500" i="1" kern="100" dirty="0" err="1">
                <a:solidFill>
                  <a:srgbClr val="00FF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d:Department</a:t>
            </a:r>
            <a:r>
              <a:rPr lang="en-US" sz="1500" i="1" kern="100" dirty="0">
                <a:solidFill>
                  <a:srgbClr val="00FF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</a:t>
            </a:r>
            <a:endParaRPr lang="ru-RU" sz="1500" i="1" kern="100" dirty="0">
              <a:solidFill>
                <a:srgbClr val="00FFFF"/>
              </a:solidFill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indent="449580">
              <a:lnSpc>
                <a:spcPct val="107000"/>
              </a:lnSpc>
              <a:spcAft>
                <a:spcPts val="800"/>
              </a:spcAft>
            </a:pPr>
            <a:r>
              <a:rPr lang="en-US" sz="1500" i="1" kern="100" dirty="0">
                <a:solidFill>
                  <a:srgbClr val="00FF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MATCH (d)-[:BELONGS_TO]-&gt;(</a:t>
            </a:r>
            <a:r>
              <a:rPr lang="en-US" sz="1500" i="1" kern="100" dirty="0" err="1">
                <a:solidFill>
                  <a:srgbClr val="00FF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f:Faculty</a:t>
            </a:r>
            <a:r>
              <a:rPr lang="en-US" sz="1500" i="1" kern="100" dirty="0">
                <a:solidFill>
                  <a:srgbClr val="00FF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{</a:t>
            </a:r>
            <a:r>
              <a:rPr lang="en-US" sz="1500" i="1" kern="100" dirty="0" err="1">
                <a:solidFill>
                  <a:srgbClr val="00FF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faculty_name</a:t>
            </a:r>
            <a:r>
              <a:rPr lang="en-US" sz="1500" i="1" kern="100" dirty="0">
                <a:solidFill>
                  <a:srgbClr val="00FF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: "</a:t>
            </a:r>
            <a:r>
              <a:rPr lang="en-US" sz="1500" i="1" kern="100" dirty="0" err="1">
                <a:solidFill>
                  <a:srgbClr val="00FF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Факультет</a:t>
            </a:r>
            <a:r>
              <a:rPr lang="en-US" sz="1500" i="1" kern="100" dirty="0">
                <a:solidFill>
                  <a:srgbClr val="00FF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500" i="1" kern="100" dirty="0" err="1">
                <a:solidFill>
                  <a:srgbClr val="00FF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информационных</a:t>
            </a:r>
            <a:r>
              <a:rPr lang="en-US" sz="1500" i="1" kern="100" dirty="0">
                <a:solidFill>
                  <a:srgbClr val="00FF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500" i="1" kern="100" dirty="0" err="1">
                <a:solidFill>
                  <a:srgbClr val="00FF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технологий</a:t>
            </a:r>
            <a:r>
              <a:rPr lang="en-US" sz="1500" i="1" kern="100" dirty="0">
                <a:solidFill>
                  <a:srgbClr val="00FF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"})</a:t>
            </a:r>
            <a:endParaRPr lang="ru-RU" sz="1500" i="1" kern="100" dirty="0">
              <a:solidFill>
                <a:srgbClr val="00FFFF"/>
              </a:solidFill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indent="449580">
              <a:lnSpc>
                <a:spcPct val="107000"/>
              </a:lnSpc>
              <a:spcAft>
                <a:spcPts val="800"/>
              </a:spcAft>
            </a:pPr>
            <a:r>
              <a:rPr lang="en-US" sz="1500" i="1" kern="100" dirty="0">
                <a:solidFill>
                  <a:srgbClr val="00FF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RETURN </a:t>
            </a:r>
            <a:r>
              <a:rPr lang="en-US" sz="1500" i="1" kern="100" dirty="0" err="1">
                <a:solidFill>
                  <a:srgbClr val="00FF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s.full_name</a:t>
            </a:r>
            <a:r>
              <a:rPr lang="en-US" sz="1500" i="1" kern="100" dirty="0">
                <a:solidFill>
                  <a:srgbClr val="00FF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as Студент, </a:t>
            </a:r>
            <a:r>
              <a:rPr lang="en-US" sz="1500" i="1" kern="100" dirty="0" err="1">
                <a:solidFill>
                  <a:srgbClr val="00FF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rd.direction_name</a:t>
            </a:r>
            <a:r>
              <a:rPr lang="en-US" sz="1500" i="1" kern="100" dirty="0">
                <a:solidFill>
                  <a:srgbClr val="00FF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as </a:t>
            </a:r>
            <a:r>
              <a:rPr lang="en-US" sz="1500" i="1" kern="100" dirty="0" err="1">
                <a:solidFill>
                  <a:srgbClr val="00FF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Направление</a:t>
            </a:r>
            <a:r>
              <a:rPr lang="en-US" sz="1500" i="1" kern="100" dirty="0">
                <a:solidFill>
                  <a:srgbClr val="00FF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sz="1500" i="1" kern="100" dirty="0" err="1">
                <a:solidFill>
                  <a:srgbClr val="00FF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d.department_name</a:t>
            </a:r>
            <a:r>
              <a:rPr lang="en-US" sz="1500" i="1" kern="100" dirty="0">
                <a:solidFill>
                  <a:srgbClr val="00FF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as </a:t>
            </a:r>
            <a:r>
              <a:rPr lang="en-US" sz="1500" i="1" kern="100" dirty="0" err="1">
                <a:solidFill>
                  <a:srgbClr val="00FF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Кафедра</a:t>
            </a:r>
            <a:endParaRPr lang="ru-RU" sz="1500" i="1" kern="100" dirty="0">
              <a:solidFill>
                <a:srgbClr val="00FFFF"/>
              </a:solidFill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500" i="1" kern="100" dirty="0">
                <a:solidFill>
                  <a:srgbClr val="00FF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ORDER BY </a:t>
            </a:r>
            <a:r>
              <a:rPr lang="en-US" sz="1500" i="1" kern="100" dirty="0" err="1">
                <a:solidFill>
                  <a:srgbClr val="00FF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s.full_name</a:t>
            </a:r>
            <a:r>
              <a:rPr lang="en-US" sz="1500" i="1" kern="100" dirty="0">
                <a:solidFill>
                  <a:srgbClr val="00FF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r>
              <a:rPr lang="en-US" sz="1500" i="1" kern="100" dirty="0">
                <a:solidFill>
                  <a:srgbClr val="00FFFF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endParaRPr lang="ru-RU" sz="1500" i="1" dirty="0">
              <a:solidFill>
                <a:srgbClr val="00FFFF"/>
              </a:solidFill>
            </a:endParaRPr>
          </a:p>
        </p:txBody>
      </p:sp>
      <p:sp>
        <p:nvSpPr>
          <p:cNvPr id="9" name="Прямоугольник 8"/>
          <p:cNvSpPr/>
          <p:nvPr/>
        </p:nvSpPr>
        <p:spPr>
          <a:xfrm>
            <a:off x="6132215" y="924803"/>
            <a:ext cx="6096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pPr algn="just"/>
            <a:r>
              <a:rPr lang="ru-RU" b="1" dirty="0" smtClean="0">
                <a:solidFill>
                  <a:schemeClr val="bg1"/>
                </a:solidFill>
              </a:rPr>
              <a:t>Активные студенты факультета инф. Технологий</a:t>
            </a:r>
            <a:endParaRPr lang="ru-RU" b="1" dirty="0">
              <a:solidFill>
                <a:schemeClr val="bg1"/>
              </a:solidFill>
            </a:endParaRPr>
          </a:p>
        </p:txBody>
      </p:sp>
      <p:pic>
        <p:nvPicPr>
          <p:cNvPr id="10" name="Рисунок 9"/>
          <p:cNvPicPr/>
          <p:nvPr/>
        </p:nvPicPr>
        <p:blipFill>
          <a:blip r:embed="rId2"/>
          <a:stretch>
            <a:fillRect/>
          </a:stretch>
        </p:blipFill>
        <p:spPr>
          <a:xfrm>
            <a:off x="6096000" y="4242535"/>
            <a:ext cx="5940425" cy="1197610"/>
          </a:xfrm>
          <a:prstGeom prst="rect">
            <a:avLst/>
          </a:prstGeom>
        </p:spPr>
      </p:pic>
      <p:sp>
        <p:nvSpPr>
          <p:cNvPr id="3" name="Текстовое поле 2">
            <a:hlinkClick r:id="rId3" action="ppaction://hlinksldjump"/>
          </p:cNvPr>
          <p:cNvSpPr txBox="1"/>
          <p:nvPr/>
        </p:nvSpPr>
        <p:spPr>
          <a:xfrm>
            <a:off x="10215880" y="208280"/>
            <a:ext cx="1758315" cy="4298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ru-RU" altLang="en-US" sz="2200" dirty="0" smtClean="0">
                <a:solidFill>
                  <a:schemeClr val="bg1"/>
                </a:solidFill>
                <a:effectLst/>
                <a:latin typeface="quote-cjk-patch"/>
                <a:sym typeface="+mn-ea"/>
              </a:rPr>
              <a:t>Оглавление</a:t>
            </a:r>
            <a:endParaRPr lang="ru-RU" altLang="en-US" sz="2200" dirty="0" smtClean="0">
              <a:solidFill>
                <a:schemeClr val="bg1"/>
              </a:solidFill>
              <a:effectLst/>
              <a:latin typeface="quote-cjk-patch"/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070C0"/>
            </a:gs>
            <a:gs pos="100000">
              <a:srgbClr val="00B0F0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0" y="98900"/>
            <a:ext cx="12192000" cy="645368"/>
          </a:xfrm>
        </p:spPr>
        <p:txBody>
          <a:bodyPr>
            <a:normAutofit fontScale="90000"/>
          </a:bodyPr>
          <a:lstStyle/>
          <a:p>
            <a:pPr algn="l"/>
            <a:r>
              <a:rPr lang="ru-RU" sz="4000" dirty="0" smtClean="0">
                <a:solidFill>
                  <a:schemeClr val="bg1"/>
                </a:solidFill>
              </a:rPr>
              <a:t>Создание визуализаций (</a:t>
            </a:r>
            <a:r>
              <a:rPr lang="en-US" sz="4000" dirty="0" err="1" smtClean="0">
                <a:solidFill>
                  <a:schemeClr val="bg1"/>
                </a:solidFill>
              </a:rPr>
              <a:t>Yandex</a:t>
            </a:r>
            <a:r>
              <a:rPr lang="en-US" sz="4000" dirty="0" smtClean="0">
                <a:solidFill>
                  <a:schemeClr val="bg1"/>
                </a:solidFill>
              </a:rPr>
              <a:t> </a:t>
            </a:r>
            <a:r>
              <a:rPr lang="en-US" sz="4000" dirty="0" err="1" smtClean="0">
                <a:solidFill>
                  <a:schemeClr val="bg1"/>
                </a:solidFill>
              </a:rPr>
              <a:t>datalens</a:t>
            </a:r>
            <a:r>
              <a:rPr lang="en-US" sz="4000" dirty="0" smtClean="0">
                <a:solidFill>
                  <a:schemeClr val="bg1"/>
                </a:solidFill>
              </a:rPr>
              <a:t>)</a:t>
            </a:r>
            <a:endParaRPr lang="ru-RU" sz="4000" dirty="0">
              <a:solidFill>
                <a:schemeClr val="bg1"/>
              </a:solidFill>
            </a:endParaRPr>
          </a:p>
        </p:txBody>
      </p:sp>
      <p:pic>
        <p:nvPicPr>
          <p:cNvPr id="11" name="Рисунок 10"/>
          <p:cNvPicPr/>
          <p:nvPr/>
        </p:nvPicPr>
        <p:blipFill>
          <a:blip r:embed="rId1"/>
          <a:stretch>
            <a:fillRect/>
          </a:stretch>
        </p:blipFill>
        <p:spPr>
          <a:xfrm>
            <a:off x="66040" y="818609"/>
            <a:ext cx="6029960" cy="3754120"/>
          </a:xfrm>
          <a:prstGeom prst="rect">
            <a:avLst/>
          </a:prstGeom>
        </p:spPr>
      </p:pic>
      <p:pic>
        <p:nvPicPr>
          <p:cNvPr id="12" name="Рисунок 11"/>
          <p:cNvPicPr/>
          <p:nvPr/>
        </p:nvPicPr>
        <p:blipFill>
          <a:blip r:embed="rId2"/>
          <a:stretch>
            <a:fillRect/>
          </a:stretch>
        </p:blipFill>
        <p:spPr>
          <a:xfrm>
            <a:off x="6168604" y="818609"/>
            <a:ext cx="5940425" cy="3747135"/>
          </a:xfrm>
          <a:prstGeom prst="rect">
            <a:avLst/>
          </a:prstGeom>
        </p:spPr>
      </p:pic>
      <p:pic>
        <p:nvPicPr>
          <p:cNvPr id="13" name="Рисунок 12"/>
          <p:cNvPicPr/>
          <p:nvPr/>
        </p:nvPicPr>
        <p:blipFill>
          <a:blip r:embed="rId3"/>
          <a:stretch>
            <a:fillRect/>
          </a:stretch>
        </p:blipFill>
        <p:spPr>
          <a:xfrm>
            <a:off x="3639330" y="3962201"/>
            <a:ext cx="5305493" cy="2764523"/>
          </a:xfrm>
          <a:prstGeom prst="rect">
            <a:avLst/>
          </a:prstGeom>
        </p:spPr>
      </p:pic>
      <p:sp>
        <p:nvSpPr>
          <p:cNvPr id="5" name="Текстовое поле 4">
            <a:hlinkClick r:id="rId4" action="ppaction://hlinksldjump"/>
          </p:cNvPr>
          <p:cNvSpPr txBox="1"/>
          <p:nvPr/>
        </p:nvSpPr>
        <p:spPr>
          <a:xfrm>
            <a:off x="10215880" y="208280"/>
            <a:ext cx="1758315" cy="4298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ru-RU" altLang="en-US" sz="2200" dirty="0" smtClean="0">
                <a:solidFill>
                  <a:schemeClr val="bg1"/>
                </a:solidFill>
                <a:effectLst/>
                <a:latin typeface="quote-cjk-patch"/>
                <a:sym typeface="+mn-ea"/>
              </a:rPr>
              <a:t>Оглавление</a:t>
            </a:r>
            <a:endParaRPr lang="ru-RU" altLang="en-US" sz="2200" dirty="0" smtClean="0">
              <a:solidFill>
                <a:schemeClr val="bg1"/>
              </a:solidFill>
              <a:effectLst/>
              <a:latin typeface="quote-cjk-patch"/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070C0"/>
            </a:gs>
            <a:gs pos="100000">
              <a:srgbClr val="00B0F0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0" y="98900"/>
            <a:ext cx="12192000" cy="645368"/>
          </a:xfrm>
        </p:spPr>
        <p:txBody>
          <a:bodyPr>
            <a:normAutofit fontScale="90000"/>
          </a:bodyPr>
          <a:lstStyle/>
          <a:p>
            <a:pPr algn="l"/>
            <a:r>
              <a:rPr lang="ru-RU" sz="4000" dirty="0" smtClean="0">
                <a:solidFill>
                  <a:schemeClr val="bg1"/>
                </a:solidFill>
              </a:rPr>
              <a:t>Создание </a:t>
            </a:r>
            <a:r>
              <a:rPr lang="ru-RU" sz="4000" dirty="0" err="1" smtClean="0">
                <a:solidFill>
                  <a:schemeClr val="bg1"/>
                </a:solidFill>
              </a:rPr>
              <a:t>дашборда</a:t>
            </a:r>
            <a:endParaRPr lang="ru-RU" sz="4000" dirty="0">
              <a:solidFill>
                <a:schemeClr val="bg1"/>
              </a:solidFill>
            </a:endParaRPr>
          </a:p>
        </p:txBody>
      </p:sp>
      <p:pic>
        <p:nvPicPr>
          <p:cNvPr id="6" name="Рисунок 5"/>
          <p:cNvPicPr/>
          <p:nvPr/>
        </p:nvPicPr>
        <p:blipFill>
          <a:blip r:embed="rId1"/>
          <a:stretch>
            <a:fillRect/>
          </a:stretch>
        </p:blipFill>
        <p:spPr>
          <a:xfrm>
            <a:off x="2661631" y="1312083"/>
            <a:ext cx="6868738" cy="4491189"/>
          </a:xfrm>
          <a:prstGeom prst="rect">
            <a:avLst/>
          </a:prstGeom>
        </p:spPr>
      </p:pic>
      <p:sp>
        <p:nvSpPr>
          <p:cNvPr id="5" name="Текстовое поле 4">
            <a:hlinkClick r:id="rId2" action="ppaction://hlinksldjump"/>
          </p:cNvPr>
          <p:cNvSpPr txBox="1"/>
          <p:nvPr/>
        </p:nvSpPr>
        <p:spPr>
          <a:xfrm>
            <a:off x="10215880" y="208280"/>
            <a:ext cx="1758315" cy="4298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ru-RU" altLang="en-US" sz="2200" dirty="0" smtClean="0">
                <a:solidFill>
                  <a:schemeClr val="bg1"/>
                </a:solidFill>
                <a:effectLst/>
                <a:latin typeface="quote-cjk-patch"/>
                <a:sym typeface="+mn-ea"/>
              </a:rPr>
              <a:t>Оглавление</a:t>
            </a:r>
            <a:endParaRPr lang="ru-RU" altLang="en-US" sz="2200" dirty="0" smtClean="0">
              <a:solidFill>
                <a:schemeClr val="bg1"/>
              </a:solidFill>
              <a:effectLst/>
              <a:latin typeface="quote-cjk-patch"/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070C0"/>
            </a:gs>
            <a:gs pos="100000">
              <a:srgbClr val="00B0F0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0" y="98900"/>
            <a:ext cx="12192000" cy="645368"/>
          </a:xfrm>
        </p:spPr>
        <p:txBody>
          <a:bodyPr>
            <a:normAutofit fontScale="90000"/>
          </a:bodyPr>
          <a:lstStyle/>
          <a:p>
            <a:pPr algn="l"/>
            <a:r>
              <a:rPr lang="ru-RU" sz="4000" dirty="0" smtClean="0">
                <a:solidFill>
                  <a:schemeClr val="bg1"/>
                </a:solidFill>
              </a:rPr>
              <a:t>Работа с параметрами и расчетами</a:t>
            </a:r>
            <a:endParaRPr lang="ru-RU" sz="4000" dirty="0">
              <a:solidFill>
                <a:schemeClr val="bg1"/>
              </a:solidFill>
            </a:endParaRPr>
          </a:p>
        </p:txBody>
      </p:sp>
      <p:pic>
        <p:nvPicPr>
          <p:cNvPr id="1025" name="Рисунок 1854336753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122" y="2080119"/>
            <a:ext cx="2620069" cy="12014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Прямоугольник 4"/>
          <p:cNvSpPr/>
          <p:nvPr/>
        </p:nvSpPr>
        <p:spPr>
          <a:xfrm>
            <a:off x="87517" y="822274"/>
            <a:ext cx="6096000" cy="1257845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ru-RU" b="1" kern="100" dirty="0">
                <a:solidFill>
                  <a:schemeClr val="bg1"/>
                </a:solidFill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Было создано 2 вычисляемых поля: </a:t>
            </a:r>
            <a:r>
              <a:rPr lang="en-US" b="1" kern="100" dirty="0" err="1">
                <a:solidFill>
                  <a:schemeClr val="bg1"/>
                </a:solidFill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CountStudents</a:t>
            </a:r>
            <a:r>
              <a:rPr lang="ru-RU" b="1" kern="100" dirty="0">
                <a:solidFill>
                  <a:schemeClr val="bg1"/>
                </a:solidFill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 (подсчет кол-ва студентов в группе) и </a:t>
            </a:r>
            <a:r>
              <a:rPr lang="en-US" b="1" kern="100" dirty="0">
                <a:solidFill>
                  <a:schemeClr val="bg1"/>
                </a:solidFill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Status</a:t>
            </a:r>
            <a:r>
              <a:rPr lang="ru-RU" b="1" kern="100" dirty="0">
                <a:solidFill>
                  <a:schemeClr val="bg1"/>
                </a:solidFill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 (назначает статус группы в зависимости от количества студентов в ней)</a:t>
            </a:r>
            <a:br>
              <a:rPr lang="ru-RU" b="1" kern="100" dirty="0">
                <a:solidFill>
                  <a:schemeClr val="bg1"/>
                </a:solidFill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</a:br>
            <a:endParaRPr lang="ru-RU" b="1" kern="100" dirty="0">
              <a:solidFill>
                <a:schemeClr val="bg1"/>
              </a:solidFill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190122" y="3424383"/>
            <a:ext cx="6096000" cy="1737014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sz="2200" b="1" kern="100" dirty="0" err="1">
                <a:solidFill>
                  <a:schemeClr val="bg1"/>
                </a:solidFill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StudentCount</a:t>
            </a:r>
            <a:r>
              <a:rPr lang="en-US" sz="2200" b="1" kern="100" dirty="0">
                <a:solidFill>
                  <a:schemeClr val="bg1"/>
                </a:solidFill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:</a:t>
            </a:r>
            <a:endParaRPr lang="ru-RU" sz="2200" b="1" kern="100" dirty="0">
              <a:solidFill>
                <a:schemeClr val="bg1"/>
              </a:solidFill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350"/>
              </a:lnSpc>
              <a:spcAft>
                <a:spcPts val="0"/>
              </a:spcAft>
            </a:pPr>
            <a:r>
              <a:rPr lang="en-US" sz="1500" i="1" kern="0" dirty="0">
                <a:solidFill>
                  <a:srgbClr val="00FFFF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COUNT([</a:t>
            </a:r>
            <a:r>
              <a:rPr lang="en-US" sz="1500" i="1" kern="0" dirty="0" err="1">
                <a:solidFill>
                  <a:srgbClr val="00FFFF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StudentId</a:t>
            </a:r>
            <a:r>
              <a:rPr lang="en-US" sz="1500" i="1" kern="0" dirty="0" smtClean="0">
                <a:solidFill>
                  <a:srgbClr val="00FFFF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])</a:t>
            </a:r>
            <a:endParaRPr lang="en-US" sz="1500" i="1" kern="0" dirty="0" smtClean="0">
              <a:solidFill>
                <a:srgbClr val="00FFFF"/>
              </a:solidFill>
              <a:latin typeface="Consolas" panose="020B0609020204030204" pitchFamily="49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ts val="1350"/>
              </a:lnSpc>
              <a:spcAft>
                <a:spcPts val="0"/>
              </a:spcAft>
            </a:pPr>
            <a:endParaRPr lang="en-US" sz="1500" i="1" kern="0" dirty="0">
              <a:solidFill>
                <a:srgbClr val="00FFFF"/>
              </a:solidFill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350"/>
              </a:lnSpc>
              <a:spcAft>
                <a:spcPts val="0"/>
              </a:spcAft>
            </a:pPr>
            <a:r>
              <a:rPr lang="en-US" sz="2200" b="1" kern="100" dirty="0" smtClean="0">
                <a:solidFill>
                  <a:schemeClr val="bg1"/>
                </a:solidFill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Status</a:t>
            </a:r>
            <a:r>
              <a:rPr lang="ru-RU" sz="2200" b="1" kern="100" dirty="0" smtClean="0">
                <a:solidFill>
                  <a:schemeClr val="bg1"/>
                </a:solidFill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:</a:t>
            </a:r>
            <a:endParaRPr lang="ru-RU" sz="2200" b="1" kern="100" dirty="0" smtClean="0">
              <a:solidFill>
                <a:schemeClr val="bg1"/>
              </a:solidFill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350"/>
              </a:lnSpc>
              <a:spcAft>
                <a:spcPts val="0"/>
              </a:spcAft>
            </a:pPr>
            <a:endParaRPr lang="ru-RU" sz="1500" i="1" kern="100" dirty="0">
              <a:solidFill>
                <a:srgbClr val="00FFFF"/>
              </a:solidFill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500" i="1" dirty="0" smtClean="0">
                <a:solidFill>
                  <a:srgbClr val="00FFFF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en-US" sz="1500" i="1" dirty="0">
                <a:solidFill>
                  <a:srgbClr val="00FFFF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([</a:t>
            </a:r>
            <a:r>
              <a:rPr lang="en-US" sz="1500" i="1" dirty="0" err="1">
                <a:solidFill>
                  <a:srgbClr val="00FFFF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CountStudents</a:t>
            </a:r>
            <a:r>
              <a:rPr lang="en-US" sz="1500" i="1" dirty="0">
                <a:solidFill>
                  <a:srgbClr val="00FFFF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] &lt; 7, "</a:t>
            </a:r>
            <a:r>
              <a:rPr lang="ru-RU" sz="1500" i="1" dirty="0">
                <a:solidFill>
                  <a:srgbClr val="00FFFF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Недобор</a:t>
            </a:r>
            <a:r>
              <a:rPr lang="en-US" sz="1500" i="1" dirty="0">
                <a:solidFill>
                  <a:srgbClr val="00FFFF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", IF([</a:t>
            </a:r>
            <a:r>
              <a:rPr lang="en-US" sz="1500" i="1" dirty="0" err="1">
                <a:solidFill>
                  <a:srgbClr val="00FFFF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CountStudents</a:t>
            </a:r>
            <a:r>
              <a:rPr lang="en-US" sz="1500" i="1" dirty="0">
                <a:solidFill>
                  <a:srgbClr val="00FFFF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] &lt;= 14, "</a:t>
            </a:r>
            <a:r>
              <a:rPr lang="ru-RU" sz="1500" i="1" dirty="0" err="1">
                <a:solidFill>
                  <a:srgbClr val="00FFFF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Усредненно</a:t>
            </a:r>
            <a:r>
              <a:rPr lang="en-US" sz="1500" i="1" dirty="0">
                <a:solidFill>
                  <a:srgbClr val="00FFFF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", "</a:t>
            </a:r>
            <a:r>
              <a:rPr lang="ru-RU" sz="1500" i="1" dirty="0">
                <a:solidFill>
                  <a:srgbClr val="00FFFF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Перебор</a:t>
            </a:r>
            <a:r>
              <a:rPr lang="en-US" sz="1500" i="1" dirty="0">
                <a:solidFill>
                  <a:srgbClr val="00FFFF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"))</a:t>
            </a:r>
            <a:endParaRPr lang="ru-RU" sz="1500" i="1" dirty="0">
              <a:solidFill>
                <a:srgbClr val="00FFFF"/>
              </a:solidFill>
            </a:endParaRPr>
          </a:p>
        </p:txBody>
      </p:sp>
      <p:sp>
        <p:nvSpPr>
          <p:cNvPr id="3" name="Текстовое поле 2">
            <a:hlinkClick r:id="rId2" action="ppaction://hlinksldjump"/>
          </p:cNvPr>
          <p:cNvSpPr txBox="1"/>
          <p:nvPr/>
        </p:nvSpPr>
        <p:spPr>
          <a:xfrm>
            <a:off x="10215880" y="208280"/>
            <a:ext cx="1758315" cy="4298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ru-RU" altLang="en-US" sz="2200" dirty="0" smtClean="0">
                <a:solidFill>
                  <a:schemeClr val="bg1"/>
                </a:solidFill>
                <a:effectLst/>
                <a:latin typeface="quote-cjk-patch"/>
                <a:sym typeface="+mn-ea"/>
              </a:rPr>
              <a:t>Оглавление</a:t>
            </a:r>
            <a:endParaRPr lang="ru-RU" altLang="en-US" sz="2200" dirty="0" smtClean="0">
              <a:solidFill>
                <a:schemeClr val="bg1"/>
              </a:solidFill>
              <a:effectLst/>
              <a:latin typeface="quote-cjk-patch"/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070C0"/>
            </a:gs>
            <a:gs pos="100000">
              <a:srgbClr val="00B0F0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0" y="98900"/>
            <a:ext cx="12192000" cy="645368"/>
          </a:xfrm>
        </p:spPr>
        <p:txBody>
          <a:bodyPr>
            <a:normAutofit/>
          </a:bodyPr>
          <a:lstStyle/>
          <a:p>
            <a:r>
              <a:rPr lang="ru-RU" sz="4000" dirty="0" smtClean="0">
                <a:solidFill>
                  <a:schemeClr val="bg1"/>
                </a:solidFill>
              </a:rPr>
              <a:t>Вывод</a:t>
            </a:r>
            <a:endParaRPr lang="ru-RU" sz="4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6298</Words>
  <Application>WPS Presentation</Application>
  <PresentationFormat>Широкоэкранный</PresentationFormat>
  <Paragraphs>337</Paragraphs>
  <Slides>17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33" baseType="lpstr">
      <vt:lpstr>Arial</vt:lpstr>
      <vt:lpstr>SimSun</vt:lpstr>
      <vt:lpstr>Wingdings</vt:lpstr>
      <vt:lpstr>Fraunces Extra Bold</vt:lpstr>
      <vt:lpstr>Times New Roman</vt:lpstr>
      <vt:lpstr>quote-cjk-patch</vt:lpstr>
      <vt:lpstr>Artisan Signature</vt:lpstr>
      <vt:lpstr>Calibri</vt:lpstr>
      <vt:lpstr>Consolas</vt:lpstr>
      <vt:lpstr>Calibri Light</vt:lpstr>
      <vt:lpstr>Microsoft YaHei</vt:lpstr>
      <vt:lpstr>Arial Unicode MS</vt:lpstr>
      <vt:lpstr>Arial</vt:lpstr>
      <vt:lpstr>Consolas</vt:lpstr>
      <vt:lpstr>Calibri</vt:lpstr>
      <vt:lpstr>Тема Office</vt:lpstr>
      <vt:lpstr>Ликино-Дулевский политехнический колледж – филиал ГОУ  ВО МО Государственное образовательное учреждение высшего образования Московской области  </vt:lpstr>
      <vt:lpstr>Оглавление</vt:lpstr>
      <vt:lpstr>Постановка задачи</vt:lpstr>
      <vt:lpstr>Функциональный анализ №1</vt:lpstr>
      <vt:lpstr>Функциональный анализ №2</vt:lpstr>
      <vt:lpstr>UML</vt:lpstr>
      <vt:lpstr>ER-Модель БД</vt:lpstr>
      <vt:lpstr>Примеры запросов</vt:lpstr>
      <vt:lpstr>Хранимые процедуры, функции</vt:lpstr>
      <vt:lpstr>Триггеры</vt:lpstr>
      <vt:lpstr>Работа с пользователями и исключениями</vt:lpstr>
      <vt:lpstr>Проектирование и разработка графовой БД</vt:lpstr>
      <vt:lpstr>Запросы к данным</vt:lpstr>
      <vt:lpstr>Создание визуализаций (Yandex datalens)</vt:lpstr>
      <vt:lpstr>Создание дашборда</vt:lpstr>
      <vt:lpstr>Работа с параметрами и расчетами</vt:lpstr>
      <vt:lpstr>Вывод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Студент</dc:creator>
  <cp:lastModifiedBy>Дмитрий</cp:lastModifiedBy>
  <cp:revision>36</cp:revision>
  <dcterms:created xsi:type="dcterms:W3CDTF">2026-04-21T09:57:00Z</dcterms:created>
  <dcterms:modified xsi:type="dcterms:W3CDTF">2026-04-23T17:03:33Z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025FF30F46774B52A0DEA50BDD93DEE9_12</vt:lpwstr>
  </property>
  <property fmtid="{D5CDD505-2E9C-101B-9397-08002B2CF9AE}" pid="3" name="KSOProductBuildVer">
    <vt:lpwstr>1049-12.2.0.23202</vt:lpwstr>
  </property>
</Properties>
</file>